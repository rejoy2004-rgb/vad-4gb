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84048"/>
            <a:ext cx="8686800" cy="457200"/>
          </a:xfrm>
          <a:prstGeom prst="rect">
            <a:avLst/>
          </a:prstGeom>
          <a:noFill/>
        </p:spPr>
        <p:txBody>
          <a:bodyPr wrap="square" anchor="t" lIns="0" rIns="0" tIns="0" bIns="0">
            <a:spAutoFit/>
          </a:bodyPr>
          <a:lstStyle/>
          <a:p>
            <a:pPr algn="l">
              <a:lnSpc>
                <a:spcPct val="100000"/>
              </a:lnSpc>
            </a:pPr>
            <a:r>
              <a:rPr sz="2700" b="1">
                <a:solidFill>
                  <a:srgbClr val="E8ECF4"/>
                </a:solidFill>
                <a:latin typeface="Segoe UI"/>
              </a:rPr>
              <a:t>Real-time video anomaly detection on a 4 GB laptop GPU</a:t>
            </a:r>
          </a:p>
        </p:txBody>
      </p:sp>
      <p:sp>
        <p:nvSpPr>
          <p:cNvPr id="5" name="TextBox 4"/>
          <p:cNvSpPr txBox="1"/>
          <p:nvPr/>
        </p:nvSpPr>
        <p:spPr>
          <a:xfrm>
            <a:off x="502920" y="932688"/>
            <a:ext cx="10515600" cy="310896"/>
          </a:xfrm>
          <a:prstGeom prst="rect">
            <a:avLst/>
          </a:prstGeom>
          <a:noFill/>
        </p:spPr>
        <p:txBody>
          <a:bodyPr wrap="square" anchor="t" lIns="0" rIns="0" tIns="0" bIns="0">
            <a:spAutoFit/>
          </a:bodyPr>
          <a:lstStyle/>
          <a:p>
            <a:pPr algn="l">
              <a:lnSpc>
                <a:spcPct val="100000"/>
              </a:lnSpc>
            </a:pPr>
            <a:r>
              <a:rPr sz="1250" b="0">
                <a:solidFill>
                  <a:srgbClr val="8B93A7"/>
                </a:solidFill>
                <a:latin typeface="Segoe UI"/>
              </a:rPr>
              <a:t>Frozen vision-language encoder + two small trained heads  ·  11 anomaly classes  ·  RTX 3050 Laptop, 4 GB VRAM</a:t>
            </a:r>
          </a:p>
        </p:txBody>
      </p:sp>
      <p:sp>
        <p:nvSpPr>
          <p:cNvPr id="6" name="Rounded Rectangle 5"/>
          <p:cNvSpPr/>
          <p:nvPr/>
        </p:nvSpPr>
        <p:spPr>
          <a:xfrm>
            <a:off x="9372600" y="347472"/>
            <a:ext cx="2331720" cy="969264"/>
          </a:xfrm>
          <a:prstGeom prst="roundRect">
            <a:avLst>
              <a:gd name="adj" fmla="val 12000"/>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18904" y="466344"/>
            <a:ext cx="2039112" cy="411480"/>
          </a:xfrm>
          <a:prstGeom prst="rect">
            <a:avLst/>
          </a:prstGeom>
          <a:noFill/>
        </p:spPr>
        <p:txBody>
          <a:bodyPr wrap="square" anchor="t" lIns="0" rIns="0" tIns="0" bIns="0">
            <a:spAutoFit/>
          </a:bodyPr>
          <a:lstStyle/>
          <a:p>
            <a:pPr algn="l">
              <a:lnSpc>
                <a:spcPct val="100000"/>
              </a:lnSpc>
            </a:pPr>
            <a:r>
              <a:rPr sz="2300" b="1">
                <a:solidFill>
                  <a:srgbClr val="F5A623"/>
                </a:solidFill>
                <a:latin typeface="Segoe UI"/>
              </a:rPr>
              <a:t>0.618</a:t>
            </a:r>
          </a:p>
        </p:txBody>
      </p:sp>
      <p:sp>
        <p:nvSpPr>
          <p:cNvPr id="8" name="TextBox 7"/>
          <p:cNvSpPr txBox="1"/>
          <p:nvPr/>
        </p:nvSpPr>
        <p:spPr>
          <a:xfrm>
            <a:off x="9518904" y="914400"/>
            <a:ext cx="2039112" cy="310896"/>
          </a:xfrm>
          <a:prstGeom prst="rect">
            <a:avLst/>
          </a:prstGeom>
          <a:noFill/>
        </p:spPr>
        <p:txBody>
          <a:bodyPr wrap="square" anchor="t" lIns="0" rIns="0" tIns="0" bIns="0">
            <a:spAutoFit/>
          </a:bodyPr>
          <a:lstStyle/>
          <a:p>
            <a:pPr algn="l">
              <a:lnSpc>
                <a:spcPct val="100000"/>
              </a:lnSpc>
            </a:pPr>
            <a:r>
              <a:rPr sz="950" b="0">
                <a:solidFill>
                  <a:srgbClr val="8B93A7"/>
                </a:solidFill>
                <a:latin typeface="Segoe UI"/>
              </a:rPr>
              <a:t>OVERALL, PUBLIC TEST (34 VIDEOS)</a:t>
            </a:r>
          </a:p>
        </p:txBody>
      </p:sp>
      <p:sp>
        <p:nvSpPr>
          <p:cNvPr id="9" name="TextBox 8"/>
          <p:cNvSpPr txBox="1"/>
          <p:nvPr/>
        </p:nvSpPr>
        <p:spPr>
          <a:xfrm>
            <a:off x="502920" y="1572768"/>
            <a:ext cx="5486400" cy="274320"/>
          </a:xfrm>
          <a:prstGeom prst="rect">
            <a:avLst/>
          </a:prstGeom>
          <a:noFill/>
        </p:spPr>
        <p:txBody>
          <a:bodyPr wrap="square" anchor="t" lIns="0" rIns="0" tIns="0" bIns="0">
            <a:spAutoFit/>
          </a:bodyPr>
          <a:lstStyle/>
          <a:p>
            <a:pPr algn="l">
              <a:lnSpc>
                <a:spcPct val="100000"/>
              </a:lnSpc>
            </a:pPr>
            <a:r>
              <a:rPr sz="1000" b="1">
                <a:solidFill>
                  <a:srgbClr val="F5A623"/>
                </a:solidFill>
                <a:latin typeface="Segoe UI"/>
              </a:rPr>
              <a:t>PIPELINE</a:t>
            </a:r>
          </a:p>
        </p:txBody>
      </p:sp>
      <p:sp>
        <p:nvSpPr>
          <p:cNvPr id="10" name="Rounded Rectangle 9"/>
          <p:cNvSpPr/>
          <p:nvPr/>
        </p:nvSpPr>
        <p:spPr>
          <a:xfrm>
            <a:off x="502920" y="1938528"/>
            <a:ext cx="1755648" cy="1060704"/>
          </a:xfrm>
          <a:prstGeom prst="roundRect">
            <a:avLst>
              <a:gd name="adj" fmla="val 10000"/>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2075688"/>
            <a:ext cx="1517904" cy="548640"/>
          </a:xfrm>
          <a:prstGeom prst="rect">
            <a:avLst/>
          </a:prstGeom>
          <a:noFill/>
        </p:spPr>
        <p:txBody>
          <a:bodyPr wrap="square" anchor="t" lIns="0" rIns="0" tIns="0" bIns="0">
            <a:spAutoFit/>
          </a:bodyPr>
          <a:lstStyle/>
          <a:p>
            <a:pPr algn="ctr">
              <a:lnSpc>
                <a:spcPct val="95000"/>
              </a:lnSpc>
            </a:pPr>
            <a:r>
              <a:rPr sz="1019" b="1">
                <a:solidFill>
                  <a:srgbClr val="E8ECF4"/>
                </a:solidFill>
                <a:latin typeface="Segoe UI"/>
              </a:rPr>
              <a:t>Drone / CCTV /
dashcam video</a:t>
            </a:r>
          </a:p>
        </p:txBody>
      </p:sp>
      <p:sp>
        <p:nvSpPr>
          <p:cNvPr id="12" name="Isosceles Triangle 11"/>
          <p:cNvSpPr/>
          <p:nvPr/>
        </p:nvSpPr>
        <p:spPr>
          <a:xfrm rot="5400000">
            <a:off x="2290572" y="2386584"/>
            <a:ext cx="137160" cy="173736"/>
          </a:xfrm>
          <a:prstGeom prst="triangle">
            <a:avLst/>
          </a:prstGeom>
          <a:solidFill>
            <a:srgbClr val="8B9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450591" y="1938528"/>
            <a:ext cx="1755648" cy="1060704"/>
          </a:xfrm>
          <a:prstGeom prst="roundRect">
            <a:avLst>
              <a:gd name="adj" fmla="val 10000"/>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9463" y="2075688"/>
            <a:ext cx="1517904" cy="548640"/>
          </a:xfrm>
          <a:prstGeom prst="rect">
            <a:avLst/>
          </a:prstGeom>
          <a:noFill/>
        </p:spPr>
        <p:txBody>
          <a:bodyPr wrap="square" anchor="t" lIns="0" rIns="0" tIns="0" bIns="0">
            <a:spAutoFit/>
          </a:bodyPr>
          <a:lstStyle/>
          <a:p>
            <a:pPr algn="ctr">
              <a:lnSpc>
                <a:spcPct val="95000"/>
              </a:lnSpc>
            </a:pPr>
            <a:r>
              <a:rPr sz="1019" b="1">
                <a:solidFill>
                  <a:srgbClr val="E8ECF4"/>
                </a:solidFill>
                <a:latin typeface="Segoe UI"/>
              </a:rPr>
              <a:t>Sample 2 fps
downsize on decode</a:t>
            </a:r>
          </a:p>
        </p:txBody>
      </p:sp>
      <p:sp>
        <p:nvSpPr>
          <p:cNvPr id="15" name="TextBox 14"/>
          <p:cNvSpPr txBox="1"/>
          <p:nvPr/>
        </p:nvSpPr>
        <p:spPr>
          <a:xfrm>
            <a:off x="2569463" y="2670048"/>
            <a:ext cx="1517904" cy="237744"/>
          </a:xfrm>
          <a:prstGeom prst="rect">
            <a:avLst/>
          </a:prstGeom>
          <a:noFill/>
        </p:spPr>
        <p:txBody>
          <a:bodyPr wrap="square" anchor="t" lIns="0" rIns="0" tIns="0" bIns="0">
            <a:spAutoFit/>
          </a:bodyPr>
          <a:lstStyle/>
          <a:p>
            <a:pPr algn="ctr">
              <a:lnSpc>
                <a:spcPct val="100000"/>
              </a:lnSpc>
            </a:pPr>
            <a:r>
              <a:rPr sz="840" b="0">
                <a:solidFill>
                  <a:srgbClr val="8B93A7"/>
                </a:solidFill>
                <a:latin typeface="Segoe UI"/>
              </a:rPr>
              <a:t>OpenCV</a:t>
            </a:r>
          </a:p>
        </p:txBody>
      </p:sp>
      <p:sp>
        <p:nvSpPr>
          <p:cNvPr id="16" name="Isosceles Triangle 15"/>
          <p:cNvSpPr/>
          <p:nvPr/>
        </p:nvSpPr>
        <p:spPr>
          <a:xfrm rot="5400000">
            <a:off x="4238244" y="2386584"/>
            <a:ext cx="137160" cy="173736"/>
          </a:xfrm>
          <a:prstGeom prst="triangle">
            <a:avLst/>
          </a:prstGeom>
          <a:solidFill>
            <a:srgbClr val="8B9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98264" y="1938528"/>
            <a:ext cx="1755648" cy="1060704"/>
          </a:xfrm>
          <a:prstGeom prst="roundRect">
            <a:avLst>
              <a:gd name="adj" fmla="val 10000"/>
            </a:avLst>
          </a:prstGeom>
          <a:solidFill>
            <a:srgbClr val="1A1F2B"/>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17136" y="2075688"/>
            <a:ext cx="1517904" cy="548640"/>
          </a:xfrm>
          <a:prstGeom prst="rect">
            <a:avLst/>
          </a:prstGeom>
          <a:noFill/>
        </p:spPr>
        <p:txBody>
          <a:bodyPr wrap="square" anchor="t" lIns="0" rIns="0" tIns="0" bIns="0">
            <a:spAutoFit/>
          </a:bodyPr>
          <a:lstStyle/>
          <a:p>
            <a:pPr algn="ctr">
              <a:lnSpc>
                <a:spcPct val="95000"/>
              </a:lnSpc>
            </a:pPr>
            <a:r>
              <a:rPr sz="1019" b="1">
                <a:solidFill>
                  <a:srgbClr val="E8ECF4"/>
                </a:solidFill>
                <a:latin typeface="Segoe UI"/>
              </a:rPr>
              <a:t>SigLIP-2 base
FROZEN, fp16</a:t>
            </a:r>
          </a:p>
        </p:txBody>
      </p:sp>
      <p:sp>
        <p:nvSpPr>
          <p:cNvPr id="19" name="TextBox 18"/>
          <p:cNvSpPr txBox="1"/>
          <p:nvPr/>
        </p:nvSpPr>
        <p:spPr>
          <a:xfrm>
            <a:off x="4517136" y="2670048"/>
            <a:ext cx="1517904" cy="237744"/>
          </a:xfrm>
          <a:prstGeom prst="rect">
            <a:avLst/>
          </a:prstGeom>
          <a:noFill/>
        </p:spPr>
        <p:txBody>
          <a:bodyPr wrap="square" anchor="t" lIns="0" rIns="0" tIns="0" bIns="0">
            <a:spAutoFit/>
          </a:bodyPr>
          <a:lstStyle/>
          <a:p>
            <a:pPr algn="ctr">
              <a:lnSpc>
                <a:spcPct val="100000"/>
              </a:lnSpc>
            </a:pPr>
            <a:r>
              <a:rPr sz="840" b="0">
                <a:solidFill>
                  <a:srgbClr val="F5A623"/>
                </a:solidFill>
                <a:latin typeface="Segoe UI"/>
              </a:rPr>
              <a:t>78 fps · 1.03 GB</a:t>
            </a:r>
          </a:p>
        </p:txBody>
      </p:sp>
      <p:sp>
        <p:nvSpPr>
          <p:cNvPr id="20" name="Isosceles Triangle 19"/>
          <p:cNvSpPr/>
          <p:nvPr/>
        </p:nvSpPr>
        <p:spPr>
          <a:xfrm rot="5400000">
            <a:off x="6185916" y="2386584"/>
            <a:ext cx="137160" cy="173736"/>
          </a:xfrm>
          <a:prstGeom prst="triangle">
            <a:avLst/>
          </a:prstGeom>
          <a:solidFill>
            <a:srgbClr val="8B9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45936" y="1938528"/>
            <a:ext cx="1755648" cy="1060704"/>
          </a:xfrm>
          <a:prstGeom prst="roundRect">
            <a:avLst>
              <a:gd name="adj" fmla="val 10000"/>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64807" y="2075688"/>
            <a:ext cx="1517904" cy="548640"/>
          </a:xfrm>
          <a:prstGeom prst="rect">
            <a:avLst/>
          </a:prstGeom>
          <a:noFill/>
        </p:spPr>
        <p:txBody>
          <a:bodyPr wrap="square" anchor="t" lIns="0" rIns="0" tIns="0" bIns="0">
            <a:spAutoFit/>
          </a:bodyPr>
          <a:lstStyle/>
          <a:p>
            <a:pPr algn="ctr">
              <a:lnSpc>
                <a:spcPct val="95000"/>
              </a:lnSpc>
            </a:pPr>
            <a:r>
              <a:rPr sz="1019" b="1">
                <a:solidFill>
                  <a:srgbClr val="E8ECF4"/>
                </a:solidFill>
                <a:latin typeface="Segoe UI"/>
              </a:rPr>
              <a:t>4 s windows
mean/max/std/drift</a:t>
            </a:r>
          </a:p>
        </p:txBody>
      </p:sp>
      <p:sp>
        <p:nvSpPr>
          <p:cNvPr id="23" name="TextBox 22"/>
          <p:cNvSpPr txBox="1"/>
          <p:nvPr/>
        </p:nvSpPr>
        <p:spPr>
          <a:xfrm>
            <a:off x="6464807" y="2670048"/>
            <a:ext cx="1517904" cy="237744"/>
          </a:xfrm>
          <a:prstGeom prst="rect">
            <a:avLst/>
          </a:prstGeom>
          <a:noFill/>
        </p:spPr>
        <p:txBody>
          <a:bodyPr wrap="square" anchor="t" lIns="0" rIns="0" tIns="0" bIns="0">
            <a:spAutoFit/>
          </a:bodyPr>
          <a:lstStyle/>
          <a:p>
            <a:pPr algn="ctr">
              <a:lnSpc>
                <a:spcPct val="100000"/>
              </a:lnSpc>
            </a:pPr>
            <a:r>
              <a:rPr sz="840" b="0">
                <a:solidFill>
                  <a:srgbClr val="8B93A7"/>
                </a:solidFill>
                <a:latin typeface="Segoe UI"/>
              </a:rPr>
              <a:t>2 s hop</a:t>
            </a:r>
          </a:p>
        </p:txBody>
      </p:sp>
      <p:sp>
        <p:nvSpPr>
          <p:cNvPr id="24" name="Isosceles Triangle 23"/>
          <p:cNvSpPr/>
          <p:nvPr/>
        </p:nvSpPr>
        <p:spPr>
          <a:xfrm rot="5400000">
            <a:off x="8133588" y="2386584"/>
            <a:ext cx="137160" cy="173736"/>
          </a:xfrm>
          <a:prstGeom prst="triangle">
            <a:avLst/>
          </a:prstGeom>
          <a:solidFill>
            <a:srgbClr val="8B9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93608" y="1938528"/>
            <a:ext cx="1755648" cy="1060704"/>
          </a:xfrm>
          <a:prstGeom prst="roundRect">
            <a:avLst>
              <a:gd name="adj" fmla="val 10000"/>
            </a:avLst>
          </a:prstGeom>
          <a:solidFill>
            <a:srgbClr val="1A1F2B"/>
          </a:solidFill>
          <a:ln w="12700">
            <a:solidFill>
              <a:srgbClr val="4ADE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0" y="2075688"/>
            <a:ext cx="1517904" cy="548640"/>
          </a:xfrm>
          <a:prstGeom prst="rect">
            <a:avLst/>
          </a:prstGeom>
          <a:noFill/>
        </p:spPr>
        <p:txBody>
          <a:bodyPr wrap="square" anchor="t" lIns="0" rIns="0" tIns="0" bIns="0">
            <a:spAutoFit/>
          </a:bodyPr>
          <a:lstStyle/>
          <a:p>
            <a:pPr algn="ctr">
              <a:lnSpc>
                <a:spcPct val="95000"/>
              </a:lnSpc>
            </a:pPr>
            <a:r>
              <a:rPr sz="1019" b="1">
                <a:solidFill>
                  <a:srgbClr val="E8ECF4"/>
                </a:solidFill>
                <a:latin typeface="Segoe UI"/>
              </a:rPr>
              <a:t>Two MLP heads
window + clip</a:t>
            </a:r>
          </a:p>
        </p:txBody>
      </p:sp>
      <p:sp>
        <p:nvSpPr>
          <p:cNvPr id="27" name="TextBox 26"/>
          <p:cNvSpPr txBox="1"/>
          <p:nvPr/>
        </p:nvSpPr>
        <p:spPr>
          <a:xfrm>
            <a:off x="8412480" y="2670048"/>
            <a:ext cx="1517904" cy="237744"/>
          </a:xfrm>
          <a:prstGeom prst="rect">
            <a:avLst/>
          </a:prstGeom>
          <a:noFill/>
        </p:spPr>
        <p:txBody>
          <a:bodyPr wrap="square" anchor="t" lIns="0" rIns="0" tIns="0" bIns="0">
            <a:spAutoFit/>
          </a:bodyPr>
          <a:lstStyle/>
          <a:p>
            <a:pPr algn="ctr">
              <a:lnSpc>
                <a:spcPct val="100000"/>
              </a:lnSpc>
            </a:pPr>
            <a:r>
              <a:rPr sz="840" b="0">
                <a:solidFill>
                  <a:srgbClr val="4ADE80"/>
                </a:solidFill>
                <a:latin typeface="Segoe UI"/>
              </a:rPr>
              <a:t>trained, &lt;1 min</a:t>
            </a:r>
          </a:p>
        </p:txBody>
      </p:sp>
      <p:sp>
        <p:nvSpPr>
          <p:cNvPr id="28" name="Isosceles Triangle 27"/>
          <p:cNvSpPr/>
          <p:nvPr/>
        </p:nvSpPr>
        <p:spPr>
          <a:xfrm rot="5400000">
            <a:off x="10081260" y="2386584"/>
            <a:ext cx="137160" cy="173736"/>
          </a:xfrm>
          <a:prstGeom prst="triangle">
            <a:avLst/>
          </a:prstGeom>
          <a:solidFill>
            <a:srgbClr val="8B9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0241280" y="1938528"/>
            <a:ext cx="1755648" cy="1060704"/>
          </a:xfrm>
          <a:prstGeom prst="roundRect">
            <a:avLst>
              <a:gd name="adj" fmla="val 10000"/>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60152" y="2075688"/>
            <a:ext cx="1517904" cy="548640"/>
          </a:xfrm>
          <a:prstGeom prst="rect">
            <a:avLst/>
          </a:prstGeom>
          <a:noFill/>
        </p:spPr>
        <p:txBody>
          <a:bodyPr wrap="square" anchor="t" lIns="0" rIns="0" tIns="0" bIns="0">
            <a:spAutoFit/>
          </a:bodyPr>
          <a:lstStyle/>
          <a:p>
            <a:pPr algn="ctr">
              <a:lnSpc>
                <a:spcPct val="95000"/>
              </a:lnSpc>
            </a:pPr>
            <a:r>
              <a:rPr sz="1019" b="1">
                <a:solidFill>
                  <a:srgbClr val="E8ECF4"/>
                </a:solidFill>
                <a:latin typeface="Segoe UI"/>
              </a:rPr>
              <a:t>Hysteresis decoder
relative to baseline</a:t>
            </a:r>
          </a:p>
        </p:txBody>
      </p:sp>
      <p:sp>
        <p:nvSpPr>
          <p:cNvPr id="31" name="TextBox 30"/>
          <p:cNvSpPr txBox="1"/>
          <p:nvPr/>
        </p:nvSpPr>
        <p:spPr>
          <a:xfrm>
            <a:off x="10360152" y="2670048"/>
            <a:ext cx="1517904" cy="237744"/>
          </a:xfrm>
          <a:prstGeom prst="rect">
            <a:avLst/>
          </a:prstGeom>
          <a:noFill/>
        </p:spPr>
        <p:txBody>
          <a:bodyPr wrap="square" anchor="t" lIns="0" rIns="0" tIns="0" bIns="0">
            <a:spAutoFit/>
          </a:bodyPr>
          <a:lstStyle/>
          <a:p>
            <a:pPr algn="ctr">
              <a:lnSpc>
                <a:spcPct val="100000"/>
              </a:lnSpc>
            </a:pPr>
            <a:r>
              <a:rPr sz="840" b="0">
                <a:solidFill>
                  <a:srgbClr val="8B93A7"/>
                </a:solidFill>
                <a:latin typeface="Segoe UI"/>
              </a:rPr>
              <a:t>merge · gate</a:t>
            </a:r>
          </a:p>
        </p:txBody>
      </p:sp>
      <p:sp>
        <p:nvSpPr>
          <p:cNvPr id="32" name="TextBox 31"/>
          <p:cNvSpPr txBox="1"/>
          <p:nvPr/>
        </p:nvSpPr>
        <p:spPr>
          <a:xfrm>
            <a:off x="502920" y="3218688"/>
            <a:ext cx="11155680" cy="274320"/>
          </a:xfrm>
          <a:prstGeom prst="rect">
            <a:avLst/>
          </a:prstGeom>
          <a:noFill/>
        </p:spPr>
        <p:txBody>
          <a:bodyPr wrap="square" anchor="t" lIns="0" rIns="0" tIns="0" bIns="0">
            <a:spAutoFit/>
          </a:bodyPr>
          <a:lstStyle/>
          <a:p>
            <a:pPr algn="l">
              <a:lnSpc>
                <a:spcPct val="100000"/>
              </a:lnSpc>
            </a:pPr>
            <a:r>
              <a:rPr sz="1100" b="1">
                <a:solidFill>
                  <a:srgbClr val="F5A623"/>
                </a:solidFill>
                <a:latin typeface="Segoe UI"/>
              </a:rPr>
              <a:t>Encode once, reuse forever.  </a:t>
            </a:r>
          </a:p>
          <a:p>
            <a:pPr algn="l">
              <a:lnSpc>
                <a:spcPct val="100000"/>
              </a:lnSpc>
            </a:pPr>
            <a:r>
              <a:rPr sz="1100" b="0">
                <a:solidFill>
                  <a:srgbClr val="8B93A7"/>
                </a:solidFill>
                <a:latin typeface="Segoe UI"/>
              </a:rPr>
              <a:t>The encoder is frozen, so all 3,207 videos are embedded once into a cache. Retraining a head then takes under a minute, which is what made same-day iteration on windowing and thresholds possible.</a:t>
            </a:r>
          </a:p>
        </p:txBody>
      </p:sp>
      <p:sp>
        <p:nvSpPr>
          <p:cNvPr id="33" name="Rounded Rectangle 32"/>
          <p:cNvSpPr/>
          <p:nvPr/>
        </p:nvSpPr>
        <p:spPr>
          <a:xfrm>
            <a:off x="502920" y="3767328"/>
            <a:ext cx="5532120" cy="2606040"/>
          </a:xfrm>
          <a:prstGeom prst="roundRect">
            <a:avLst>
              <a:gd name="adj" fmla="val 6000"/>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3968496"/>
            <a:ext cx="4983480" cy="274320"/>
          </a:xfrm>
          <a:prstGeom prst="rect">
            <a:avLst/>
          </a:prstGeom>
          <a:noFill/>
        </p:spPr>
        <p:txBody>
          <a:bodyPr wrap="square" anchor="t" lIns="0" rIns="0" tIns="0" bIns="0">
            <a:spAutoFit/>
          </a:bodyPr>
          <a:lstStyle/>
          <a:p>
            <a:pPr algn="l">
              <a:lnSpc>
                <a:spcPct val="100000"/>
              </a:lnSpc>
            </a:pPr>
            <a:r>
              <a:rPr sz="1000" b="1">
                <a:solidFill>
                  <a:srgbClr val="F5A623"/>
                </a:solidFill>
                <a:latin typeface="Segoe UI"/>
              </a:rPr>
              <a:t>WHY NOT RUN A VLM PER FRAME</a:t>
            </a:r>
          </a:p>
        </p:txBody>
      </p:sp>
      <p:sp>
        <p:nvSpPr>
          <p:cNvPr id="35" name="TextBox 34"/>
          <p:cNvSpPr txBox="1"/>
          <p:nvPr/>
        </p:nvSpPr>
        <p:spPr>
          <a:xfrm>
            <a:off x="777240" y="4315968"/>
            <a:ext cx="4983480" cy="1920240"/>
          </a:xfrm>
          <a:prstGeom prst="rect">
            <a:avLst/>
          </a:prstGeom>
          <a:noFill/>
        </p:spPr>
        <p:txBody>
          <a:bodyPr wrap="square" anchor="t" lIns="0" rIns="0" tIns="0" bIns="0">
            <a:spAutoFit/>
          </a:bodyPr>
          <a:lstStyle/>
          <a:p>
            <a:pPr algn="l">
              <a:lnSpc>
                <a:spcPct val="105000"/>
              </a:lnSpc>
            </a:pPr>
            <a:r>
              <a:rPr sz="1150" b="0">
                <a:solidFill>
                  <a:srgbClr val="E8ECF4"/>
                </a:solidFill>
                <a:latin typeface="Segoe UI"/>
              </a:rPr>
              <a:t>4 GB rules out fine-tuning a 2B VLM locally. So we froze one and trained only what sits on top.</a:t>
            </a:r>
          </a:p>
          <a:p>
            <a:pPr algn="l">
              <a:lnSpc>
                <a:spcPct val="105000"/>
              </a:lnSpc>
              <a:spcBef>
                <a:spcPts val="900"/>
              </a:spcBef>
            </a:pPr>
            <a:r>
              <a:rPr sz="1100" b="0">
                <a:solidFill>
                  <a:srgbClr val="8B93A7"/>
                </a:solidFill>
                <a:latin typeface="Segoe UI"/>
              </a:rPr>
              <a:t>The always-on stage is, in the end, a 12-way decision — orders of magnitude cheaper as a head over frozen embeddings than as generative decoding. The open-vocabulary semantics still come from the VLM; only the task-specific part is learned.</a:t>
            </a:r>
          </a:p>
          <a:p>
            <a:pPr algn="l">
              <a:lnSpc>
                <a:spcPct val="105000"/>
              </a:lnSpc>
              <a:spcBef>
                <a:spcPts val="900"/>
              </a:spcBef>
            </a:pPr>
            <a:r>
              <a:rPr sz="1100" b="0">
                <a:solidFill>
                  <a:srgbClr val="8B93A7"/>
                </a:solidFill>
                <a:latin typeface="Segoe UI"/>
              </a:rPr>
              <a:t>Explanations use nearest-neighbour retrieval over training descriptions in the same embedding space — one dot product per event, no generative model.</a:t>
            </a:r>
          </a:p>
        </p:txBody>
      </p:sp>
      <p:sp>
        <p:nvSpPr>
          <p:cNvPr id="36" name="Rounded Rectangle 35"/>
          <p:cNvSpPr/>
          <p:nvPr/>
        </p:nvSpPr>
        <p:spPr>
          <a:xfrm>
            <a:off x="6263640" y="3767328"/>
            <a:ext cx="5440680" cy="2606040"/>
          </a:xfrm>
          <a:prstGeom prst="roundRect">
            <a:avLst>
              <a:gd name="adj" fmla="val 6000"/>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7960" y="3968496"/>
            <a:ext cx="4937760" cy="274320"/>
          </a:xfrm>
          <a:prstGeom prst="rect">
            <a:avLst/>
          </a:prstGeom>
          <a:noFill/>
        </p:spPr>
        <p:txBody>
          <a:bodyPr wrap="square" anchor="t" lIns="0" rIns="0" tIns="0" bIns="0">
            <a:spAutoFit/>
          </a:bodyPr>
          <a:lstStyle/>
          <a:p>
            <a:pPr algn="l">
              <a:lnSpc>
                <a:spcPct val="100000"/>
              </a:lnSpc>
            </a:pPr>
            <a:r>
              <a:rPr sz="1000" b="1">
                <a:solidFill>
                  <a:srgbClr val="F5A623"/>
                </a:solidFill>
                <a:latin typeface="Segoe UI"/>
              </a:rPr>
              <a:t>SPEED, MEASURED END TO END</a:t>
            </a:r>
          </a:p>
        </p:txBody>
      </p:sp>
      <p:pic>
        <p:nvPicPr>
          <p:cNvPr id="38" name="Picture 37" descr="chart_latency.png"/>
          <p:cNvPicPr>
            <a:picLocks noChangeAspect="1"/>
          </p:cNvPicPr>
          <p:nvPr/>
        </p:nvPicPr>
        <p:blipFill>
          <a:blip r:embed="rId2"/>
          <a:stretch>
            <a:fillRect/>
          </a:stretch>
        </p:blipFill>
        <p:spPr>
          <a:xfrm>
            <a:off x="6446520" y="4279392"/>
            <a:ext cx="2206233" cy="1481328"/>
          </a:xfrm>
          <a:prstGeom prst="rect">
            <a:avLst/>
          </a:prstGeom>
        </p:spPr>
      </p:pic>
      <p:sp>
        <p:nvSpPr>
          <p:cNvPr id="39" name="TextBox 38"/>
          <p:cNvSpPr txBox="1"/>
          <p:nvPr/>
        </p:nvSpPr>
        <p:spPr>
          <a:xfrm>
            <a:off x="9601200" y="4370832"/>
            <a:ext cx="1965960" cy="1371600"/>
          </a:xfrm>
          <a:prstGeom prst="rect">
            <a:avLst/>
          </a:prstGeom>
          <a:noFill/>
        </p:spPr>
        <p:txBody>
          <a:bodyPr wrap="square" anchor="t" lIns="0" rIns="0" tIns="0" bIns="0">
            <a:spAutoFit/>
          </a:bodyPr>
          <a:lstStyle/>
          <a:p>
            <a:pPr algn="l">
              <a:lnSpc>
                <a:spcPct val="100000"/>
              </a:lnSpc>
            </a:pPr>
            <a:r>
              <a:rPr sz="1700" b="1">
                <a:solidFill>
                  <a:srgbClr val="E8ECF4"/>
                </a:solidFill>
                <a:latin typeface="Segoe UI"/>
              </a:rPr>
              <a:t>3,391 s</a:t>
            </a:r>
          </a:p>
          <a:p>
            <a:pPr algn="l">
              <a:lnSpc>
                <a:spcPct val="100000"/>
              </a:lnSpc>
            </a:pPr>
            <a:r>
              <a:rPr sz="950" b="0">
                <a:solidFill>
                  <a:srgbClr val="8B93A7"/>
                </a:solidFill>
                <a:latin typeface="Segoe UI"/>
              </a:rPr>
              <a:t>of video</a:t>
            </a:r>
          </a:p>
          <a:p>
            <a:pPr algn="l">
              <a:lnSpc>
                <a:spcPct val="100000"/>
              </a:lnSpc>
              <a:spcBef>
                <a:spcPts val="700"/>
              </a:spcBef>
            </a:pPr>
            <a:r>
              <a:rPr sz="1700" b="1">
                <a:solidFill>
                  <a:srgbClr val="E8ECF4"/>
                </a:solidFill>
                <a:latin typeface="Segoe UI"/>
              </a:rPr>
              <a:t>167 s</a:t>
            </a:r>
          </a:p>
          <a:p>
            <a:pPr algn="l">
              <a:lnSpc>
                <a:spcPct val="100000"/>
              </a:lnSpc>
            </a:pPr>
            <a:r>
              <a:rPr sz="950" b="0">
                <a:solidFill>
                  <a:srgbClr val="8B93A7"/>
                </a:solidFill>
                <a:latin typeface="Segoe UI"/>
              </a:rPr>
              <a:t>to process, incl. decode</a:t>
            </a:r>
          </a:p>
        </p:txBody>
      </p:sp>
      <p:sp>
        <p:nvSpPr>
          <p:cNvPr id="40" name="TextBox 39"/>
          <p:cNvSpPr txBox="1"/>
          <p:nvPr/>
        </p:nvSpPr>
        <p:spPr>
          <a:xfrm>
            <a:off x="6537960" y="5870448"/>
            <a:ext cx="4937760" cy="365760"/>
          </a:xfrm>
          <a:prstGeom prst="rect">
            <a:avLst/>
          </a:prstGeom>
          <a:noFill/>
        </p:spPr>
        <p:txBody>
          <a:bodyPr wrap="square" anchor="t" lIns="0" rIns="0" tIns="0" bIns="0">
            <a:spAutoFit/>
          </a:bodyPr>
          <a:lstStyle/>
          <a:p>
            <a:pPr algn="l">
              <a:lnSpc>
                <a:spcPct val="100000"/>
              </a:lnSpc>
            </a:pPr>
            <a:r>
              <a:rPr sz="1050" b="1">
                <a:solidFill>
                  <a:srgbClr val="4ADE80"/>
                </a:solidFill>
                <a:latin typeface="Segoe UI"/>
              </a:rPr>
              <a:t>Decode is the bottleneck, not the GPU. </a:t>
            </a:r>
          </a:p>
          <a:p>
            <a:pPr algn="l">
              <a:lnSpc>
                <a:spcPct val="100000"/>
              </a:lnSpc>
            </a:pPr>
            <a:r>
              <a:rPr sz="1050" b="0">
                <a:solidFill>
                  <a:srgbClr val="8B93A7"/>
                </a:solidFill>
                <a:latin typeface="Segoe UI"/>
              </a:rPr>
              <a:t>Encoding 2 fps costs 1.03 GB and leaves headroom for many streams.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84048"/>
            <a:ext cx="8229600" cy="411480"/>
          </a:xfrm>
          <a:prstGeom prst="rect">
            <a:avLst/>
          </a:prstGeom>
          <a:noFill/>
        </p:spPr>
        <p:txBody>
          <a:bodyPr wrap="square" anchor="t" lIns="0" rIns="0" tIns="0" bIns="0">
            <a:spAutoFit/>
          </a:bodyPr>
          <a:lstStyle/>
          <a:p>
            <a:pPr algn="l">
              <a:lnSpc>
                <a:spcPct val="100000"/>
              </a:lnSpc>
            </a:pPr>
            <a:r>
              <a:rPr sz="2700" b="1">
                <a:solidFill>
                  <a:srgbClr val="E8ECF4"/>
                </a:solidFill>
                <a:latin typeface="Segoe UI"/>
              </a:rPr>
              <a:t>What moved the score, and what didn't</a:t>
            </a:r>
          </a:p>
        </p:txBody>
      </p:sp>
      <p:sp>
        <p:nvSpPr>
          <p:cNvPr id="5" name="TextBox 4"/>
          <p:cNvSpPr txBox="1"/>
          <p:nvPr/>
        </p:nvSpPr>
        <p:spPr>
          <a:xfrm>
            <a:off x="502920" y="914400"/>
            <a:ext cx="8229600" cy="274320"/>
          </a:xfrm>
          <a:prstGeom prst="rect">
            <a:avLst/>
          </a:prstGeom>
          <a:noFill/>
        </p:spPr>
        <p:txBody>
          <a:bodyPr wrap="square" anchor="t" lIns="0" rIns="0" tIns="0" bIns="0">
            <a:spAutoFit/>
          </a:bodyPr>
          <a:lstStyle/>
          <a:p>
            <a:pPr algn="l">
              <a:lnSpc>
                <a:spcPct val="100000"/>
              </a:lnSpc>
            </a:pPr>
            <a:r>
              <a:rPr sz="1200" b="0">
                <a:solidFill>
                  <a:srgbClr val="8B93A7"/>
                </a:solidFill>
                <a:latin typeface="Segoe UI"/>
              </a:rPr>
              <a:t>Every number below is the same 34-video public test set, scored locally against a re-implementation of the arena metric</a:t>
            </a:r>
          </a:p>
        </p:txBody>
      </p:sp>
      <p:pic>
        <p:nvPicPr>
          <p:cNvPr id="6" name="Picture 5" descr="chart_progression.png"/>
          <p:cNvPicPr>
            <a:picLocks noChangeAspect="1"/>
          </p:cNvPicPr>
          <p:nvPr/>
        </p:nvPicPr>
        <p:blipFill>
          <a:blip r:embed="rId2"/>
          <a:stretch>
            <a:fillRect/>
          </a:stretch>
        </p:blipFill>
        <p:spPr>
          <a:xfrm>
            <a:off x="502920" y="1371600"/>
            <a:ext cx="6766560" cy="2788920"/>
          </a:xfrm>
          <a:prstGeom prst="rect">
            <a:avLst/>
          </a:prstGeom>
        </p:spPr>
      </p:pic>
      <p:sp>
        <p:nvSpPr>
          <p:cNvPr id="7" name="TextBox 6"/>
          <p:cNvSpPr txBox="1"/>
          <p:nvPr/>
        </p:nvSpPr>
        <p:spPr>
          <a:xfrm>
            <a:off x="502920" y="4343400"/>
            <a:ext cx="6766560" cy="274320"/>
          </a:xfrm>
          <a:prstGeom prst="rect">
            <a:avLst/>
          </a:prstGeom>
          <a:noFill/>
        </p:spPr>
        <p:txBody>
          <a:bodyPr wrap="square" anchor="t" lIns="0" rIns="0" tIns="0" bIns="0">
            <a:spAutoFit/>
          </a:bodyPr>
          <a:lstStyle/>
          <a:p>
            <a:pPr algn="l">
              <a:lnSpc>
                <a:spcPct val="100000"/>
              </a:lnSpc>
            </a:pPr>
            <a:r>
              <a:rPr sz="1000" b="1">
                <a:solidFill>
                  <a:srgbClr val="F5A623"/>
                </a:solidFill>
                <a:latin typeface="Segoe UI"/>
              </a:rPr>
              <a:t>FINAL, BY TASK TIER</a:t>
            </a:r>
          </a:p>
        </p:txBody>
      </p:sp>
      <p:sp>
        <p:nvSpPr>
          <p:cNvPr id="8" name="Rounded Rectangle 7"/>
          <p:cNvSpPr/>
          <p:nvPr/>
        </p:nvSpPr>
        <p:spPr>
          <a:xfrm>
            <a:off x="502920" y="4672584"/>
            <a:ext cx="2121408" cy="914400"/>
          </a:xfrm>
          <a:prstGeom prst="roundRect">
            <a:avLst>
              <a:gd name="adj" fmla="val 12000"/>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4773168"/>
            <a:ext cx="1828800" cy="237744"/>
          </a:xfrm>
          <a:prstGeom prst="rect">
            <a:avLst/>
          </a:prstGeom>
          <a:noFill/>
        </p:spPr>
        <p:txBody>
          <a:bodyPr wrap="square" anchor="t" lIns="0" rIns="0" tIns="0" bIns="0">
            <a:spAutoFit/>
          </a:bodyPr>
          <a:lstStyle/>
          <a:p>
            <a:pPr algn="l">
              <a:lnSpc>
                <a:spcPct val="100000"/>
              </a:lnSpc>
            </a:pPr>
            <a:r>
              <a:rPr sz="950" b="0">
                <a:solidFill>
                  <a:srgbClr val="8B93A7"/>
                </a:solidFill>
                <a:latin typeface="Segoe UI"/>
              </a:rPr>
              <a:t>Level 1</a:t>
            </a:r>
          </a:p>
        </p:txBody>
      </p:sp>
      <p:sp>
        <p:nvSpPr>
          <p:cNvPr id="10" name="TextBox 9"/>
          <p:cNvSpPr txBox="1"/>
          <p:nvPr/>
        </p:nvSpPr>
        <p:spPr>
          <a:xfrm>
            <a:off x="649224" y="5001768"/>
            <a:ext cx="1828800" cy="365760"/>
          </a:xfrm>
          <a:prstGeom prst="rect">
            <a:avLst/>
          </a:prstGeom>
          <a:noFill/>
        </p:spPr>
        <p:txBody>
          <a:bodyPr wrap="square" anchor="t" lIns="0" rIns="0" tIns="0" bIns="0">
            <a:spAutoFit/>
          </a:bodyPr>
          <a:lstStyle/>
          <a:p>
            <a:pPr algn="l">
              <a:lnSpc>
                <a:spcPct val="100000"/>
              </a:lnSpc>
            </a:pPr>
            <a:r>
              <a:rPr sz="2000" b="1">
                <a:solidFill>
                  <a:srgbClr val="E8ECF4"/>
                </a:solidFill>
                <a:latin typeface="Segoe UI"/>
              </a:rPr>
              <a:t>0.750</a:t>
            </a:r>
          </a:p>
        </p:txBody>
      </p:sp>
      <p:sp>
        <p:nvSpPr>
          <p:cNvPr id="11" name="TextBox 10"/>
          <p:cNvSpPr txBox="1"/>
          <p:nvPr/>
        </p:nvSpPr>
        <p:spPr>
          <a:xfrm>
            <a:off x="649224" y="5358384"/>
            <a:ext cx="1874519" cy="219456"/>
          </a:xfrm>
          <a:prstGeom prst="rect">
            <a:avLst/>
          </a:prstGeom>
          <a:noFill/>
        </p:spPr>
        <p:txBody>
          <a:bodyPr wrap="square" anchor="t" lIns="0" rIns="0" tIns="0" bIns="0">
            <a:spAutoFit/>
          </a:bodyPr>
          <a:lstStyle/>
          <a:p>
            <a:pPr algn="l">
              <a:lnSpc>
                <a:spcPct val="100000"/>
              </a:lnSpc>
            </a:pPr>
            <a:r>
              <a:rPr sz="800" b="0">
                <a:solidFill>
                  <a:srgbClr val="8B93A7"/>
                </a:solidFill>
                <a:latin typeface="Segoe UI"/>
              </a:rPr>
              <a:t>clip label · anomaly acc 23/24</a:t>
            </a:r>
          </a:p>
        </p:txBody>
      </p:sp>
      <p:sp>
        <p:nvSpPr>
          <p:cNvPr id="12" name="Rounded Rectangle 11"/>
          <p:cNvSpPr/>
          <p:nvPr/>
        </p:nvSpPr>
        <p:spPr>
          <a:xfrm>
            <a:off x="2807208" y="4672584"/>
            <a:ext cx="2121408" cy="914400"/>
          </a:xfrm>
          <a:prstGeom prst="roundRect">
            <a:avLst>
              <a:gd name="adj" fmla="val 12000"/>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53512" y="4773168"/>
            <a:ext cx="1828800" cy="237744"/>
          </a:xfrm>
          <a:prstGeom prst="rect">
            <a:avLst/>
          </a:prstGeom>
          <a:noFill/>
        </p:spPr>
        <p:txBody>
          <a:bodyPr wrap="square" anchor="t" lIns="0" rIns="0" tIns="0" bIns="0">
            <a:spAutoFit/>
          </a:bodyPr>
          <a:lstStyle/>
          <a:p>
            <a:pPr algn="l">
              <a:lnSpc>
                <a:spcPct val="100000"/>
              </a:lnSpc>
            </a:pPr>
            <a:r>
              <a:rPr sz="950" b="0">
                <a:solidFill>
                  <a:srgbClr val="8B93A7"/>
                </a:solidFill>
                <a:latin typeface="Segoe UI"/>
              </a:rPr>
              <a:t>Level 2</a:t>
            </a:r>
          </a:p>
        </p:txBody>
      </p:sp>
      <p:sp>
        <p:nvSpPr>
          <p:cNvPr id="14" name="TextBox 13"/>
          <p:cNvSpPr txBox="1"/>
          <p:nvPr/>
        </p:nvSpPr>
        <p:spPr>
          <a:xfrm>
            <a:off x="2953512" y="5001768"/>
            <a:ext cx="1828800" cy="365760"/>
          </a:xfrm>
          <a:prstGeom prst="rect">
            <a:avLst/>
          </a:prstGeom>
          <a:noFill/>
        </p:spPr>
        <p:txBody>
          <a:bodyPr wrap="square" anchor="t" lIns="0" rIns="0" tIns="0" bIns="0">
            <a:spAutoFit/>
          </a:bodyPr>
          <a:lstStyle/>
          <a:p>
            <a:pPr algn="l">
              <a:lnSpc>
                <a:spcPct val="100000"/>
              </a:lnSpc>
            </a:pPr>
            <a:r>
              <a:rPr sz="2000" b="1">
                <a:solidFill>
                  <a:srgbClr val="E8ECF4"/>
                </a:solidFill>
                <a:latin typeface="Segoe UI"/>
              </a:rPr>
              <a:t>0.674</a:t>
            </a:r>
          </a:p>
        </p:txBody>
      </p:sp>
      <p:sp>
        <p:nvSpPr>
          <p:cNvPr id="15" name="TextBox 14"/>
          <p:cNvSpPr txBox="1"/>
          <p:nvPr/>
        </p:nvSpPr>
        <p:spPr>
          <a:xfrm>
            <a:off x="2953512" y="5358384"/>
            <a:ext cx="1874519" cy="219456"/>
          </a:xfrm>
          <a:prstGeom prst="rect">
            <a:avLst/>
          </a:prstGeom>
          <a:noFill/>
        </p:spPr>
        <p:txBody>
          <a:bodyPr wrap="square" anchor="t" lIns="0" rIns="0" tIns="0" bIns="0">
            <a:spAutoFit/>
          </a:bodyPr>
          <a:lstStyle/>
          <a:p>
            <a:pPr algn="l">
              <a:lnSpc>
                <a:spcPct val="100000"/>
              </a:lnSpc>
            </a:pPr>
            <a:r>
              <a:rPr sz="800" b="0">
                <a:solidFill>
                  <a:srgbClr val="8B93A7"/>
                </a:solidFill>
                <a:latin typeface="Segoe UI"/>
              </a:rPr>
              <a:t>timed events · both normals silent</a:t>
            </a:r>
          </a:p>
        </p:txBody>
      </p:sp>
      <p:sp>
        <p:nvSpPr>
          <p:cNvPr id="16" name="Rounded Rectangle 15"/>
          <p:cNvSpPr/>
          <p:nvPr/>
        </p:nvSpPr>
        <p:spPr>
          <a:xfrm>
            <a:off x="5111496" y="4672584"/>
            <a:ext cx="2121408" cy="914400"/>
          </a:xfrm>
          <a:prstGeom prst="roundRect">
            <a:avLst>
              <a:gd name="adj" fmla="val 12000"/>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57800" y="4773168"/>
            <a:ext cx="1828800" cy="237744"/>
          </a:xfrm>
          <a:prstGeom prst="rect">
            <a:avLst/>
          </a:prstGeom>
          <a:noFill/>
        </p:spPr>
        <p:txBody>
          <a:bodyPr wrap="square" anchor="t" lIns="0" rIns="0" tIns="0" bIns="0">
            <a:spAutoFit/>
          </a:bodyPr>
          <a:lstStyle/>
          <a:p>
            <a:pPr algn="l">
              <a:lnSpc>
                <a:spcPct val="100000"/>
              </a:lnSpc>
            </a:pPr>
            <a:r>
              <a:rPr sz="950" b="0">
                <a:solidFill>
                  <a:srgbClr val="8B93A7"/>
                </a:solidFill>
                <a:latin typeface="Segoe UI"/>
              </a:rPr>
              <a:t>Level 3</a:t>
            </a:r>
          </a:p>
        </p:txBody>
      </p:sp>
      <p:sp>
        <p:nvSpPr>
          <p:cNvPr id="18" name="TextBox 17"/>
          <p:cNvSpPr txBox="1"/>
          <p:nvPr/>
        </p:nvSpPr>
        <p:spPr>
          <a:xfrm>
            <a:off x="5257800" y="5001768"/>
            <a:ext cx="1828800" cy="365760"/>
          </a:xfrm>
          <a:prstGeom prst="rect">
            <a:avLst/>
          </a:prstGeom>
          <a:noFill/>
        </p:spPr>
        <p:txBody>
          <a:bodyPr wrap="square" anchor="t" lIns="0" rIns="0" tIns="0" bIns="0">
            <a:spAutoFit/>
          </a:bodyPr>
          <a:lstStyle/>
          <a:p>
            <a:pPr algn="l">
              <a:lnSpc>
                <a:spcPct val="100000"/>
              </a:lnSpc>
            </a:pPr>
            <a:r>
              <a:rPr sz="2000" b="1">
                <a:solidFill>
                  <a:srgbClr val="E8ECF4"/>
                </a:solidFill>
                <a:latin typeface="Segoe UI"/>
              </a:rPr>
              <a:t>0.430</a:t>
            </a:r>
          </a:p>
        </p:txBody>
      </p:sp>
      <p:sp>
        <p:nvSpPr>
          <p:cNvPr id="19" name="TextBox 18"/>
          <p:cNvSpPr txBox="1"/>
          <p:nvPr/>
        </p:nvSpPr>
        <p:spPr>
          <a:xfrm>
            <a:off x="5257800" y="5358384"/>
            <a:ext cx="1874519" cy="219456"/>
          </a:xfrm>
          <a:prstGeom prst="rect">
            <a:avLst/>
          </a:prstGeom>
          <a:noFill/>
        </p:spPr>
        <p:txBody>
          <a:bodyPr wrap="square" anchor="t" lIns="0" rIns="0" tIns="0" bIns="0">
            <a:spAutoFit/>
          </a:bodyPr>
          <a:lstStyle/>
          <a:p>
            <a:pPr algn="l">
              <a:lnSpc>
                <a:spcPct val="100000"/>
              </a:lnSpc>
            </a:pPr>
            <a:r>
              <a:rPr sz="800" b="0">
                <a:solidFill>
                  <a:srgbClr val="8B93A7"/>
                </a:solidFill>
                <a:latin typeface="Segoe UI"/>
              </a:rPr>
              <a:t>long footage · timing weighted</a:t>
            </a:r>
          </a:p>
        </p:txBody>
      </p:sp>
      <p:sp>
        <p:nvSpPr>
          <p:cNvPr id="20" name="TextBox 19"/>
          <p:cNvSpPr txBox="1"/>
          <p:nvPr/>
        </p:nvSpPr>
        <p:spPr>
          <a:xfrm>
            <a:off x="502920" y="5806440"/>
            <a:ext cx="6766560" cy="777240"/>
          </a:xfrm>
          <a:prstGeom prst="rect">
            <a:avLst/>
          </a:prstGeom>
          <a:noFill/>
        </p:spPr>
        <p:txBody>
          <a:bodyPr wrap="square" anchor="t" lIns="0" rIns="0" tIns="0" bIns="0">
            <a:spAutoFit/>
          </a:bodyPr>
          <a:lstStyle/>
          <a:p>
            <a:pPr algn="l">
              <a:lnSpc>
                <a:spcPct val="115000"/>
              </a:lnSpc>
            </a:pPr>
            <a:r>
              <a:rPr sz="980" b="1">
                <a:solidFill>
                  <a:srgbClr val="F5A623"/>
                </a:solidFill>
                <a:latin typeface="Segoe UI"/>
              </a:rPr>
              <a:t>Honest caveat.  </a:t>
            </a:r>
          </a:p>
          <a:p>
            <a:pPr algn="l">
              <a:lnSpc>
                <a:spcPct val="115000"/>
              </a:lnSpc>
            </a:pPr>
            <a:r>
              <a:rPr sz="980" b="0">
                <a:solidFill>
                  <a:srgbClr val="8B93A7"/>
                </a:solidFill>
                <a:latin typeface="Segoe UI"/>
              </a:rPr>
              <a:t>The decoder is tuned on 6 Level-2 and 4 Level-3 videos, so those thresholds are the least trustworthy part of the system. Ties break toward the least aggressive setting. Our scorer matches the published structure of the metric, but the arena's exact Level-2/3 weighting isn't published — it ranks configurations, it doesn't predict the leaderboard.</a:t>
            </a:r>
          </a:p>
        </p:txBody>
      </p:sp>
      <p:sp>
        <p:nvSpPr>
          <p:cNvPr id="21" name="TextBox 20"/>
          <p:cNvSpPr txBox="1"/>
          <p:nvPr/>
        </p:nvSpPr>
        <p:spPr>
          <a:xfrm>
            <a:off x="7543800" y="1371600"/>
            <a:ext cx="4160520" cy="274320"/>
          </a:xfrm>
          <a:prstGeom prst="rect">
            <a:avLst/>
          </a:prstGeom>
          <a:noFill/>
        </p:spPr>
        <p:txBody>
          <a:bodyPr wrap="square" anchor="t" lIns="0" rIns="0" tIns="0" bIns="0">
            <a:spAutoFit/>
          </a:bodyPr>
          <a:lstStyle/>
          <a:p>
            <a:pPr algn="l">
              <a:lnSpc>
                <a:spcPct val="100000"/>
              </a:lnSpc>
            </a:pPr>
            <a:r>
              <a:rPr sz="1000" b="1">
                <a:solidFill>
                  <a:srgbClr val="F5A623"/>
                </a:solidFill>
                <a:latin typeface="Segoe UI"/>
              </a:rPr>
              <a:t>THREE THINGS THAT MATTERED</a:t>
            </a:r>
          </a:p>
        </p:txBody>
      </p:sp>
      <p:sp>
        <p:nvSpPr>
          <p:cNvPr id="22" name="Rounded Rectangle 21"/>
          <p:cNvSpPr/>
          <p:nvPr/>
        </p:nvSpPr>
        <p:spPr>
          <a:xfrm>
            <a:off x="7543800" y="1737360"/>
            <a:ext cx="4160520" cy="1298448"/>
          </a:xfrm>
          <a:prstGeom prst="roundRect">
            <a:avLst>
              <a:gd name="adj" fmla="val 8000"/>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1856231"/>
            <a:ext cx="3794760" cy="237744"/>
          </a:xfrm>
          <a:prstGeom prst="rect">
            <a:avLst/>
          </a:prstGeom>
          <a:noFill/>
        </p:spPr>
        <p:txBody>
          <a:bodyPr wrap="square" anchor="t" lIns="0" rIns="0" tIns="0" bIns="0">
            <a:spAutoFit/>
          </a:bodyPr>
          <a:lstStyle/>
          <a:p>
            <a:pPr algn="l">
              <a:lnSpc>
                <a:spcPct val="100000"/>
              </a:lnSpc>
            </a:pPr>
            <a:r>
              <a:rPr sz="1100" b="1">
                <a:solidFill>
                  <a:srgbClr val="E8ECF4"/>
                </a:solidFill>
                <a:latin typeface="Segoe UI"/>
              </a:rPr>
              <a:t>Score against each video's own baseline</a:t>
            </a:r>
          </a:p>
        </p:txBody>
      </p:sp>
      <p:sp>
        <p:nvSpPr>
          <p:cNvPr id="24" name="TextBox 23"/>
          <p:cNvSpPr txBox="1"/>
          <p:nvPr/>
        </p:nvSpPr>
        <p:spPr>
          <a:xfrm>
            <a:off x="7726679" y="2121408"/>
            <a:ext cx="3794760" cy="658368"/>
          </a:xfrm>
          <a:prstGeom prst="rect">
            <a:avLst/>
          </a:prstGeom>
          <a:noFill/>
        </p:spPr>
        <p:txBody>
          <a:bodyPr wrap="square" anchor="t" lIns="0" rIns="0" tIns="0" bIns="0">
            <a:spAutoFit/>
          </a:bodyPr>
          <a:lstStyle/>
          <a:p>
            <a:pPr algn="l">
              <a:lnSpc>
                <a:spcPct val="108000"/>
              </a:lnSpc>
            </a:pPr>
            <a:r>
              <a:rPr sz="890" b="0">
                <a:solidFill>
                  <a:srgbClr val="8B93A7"/>
                </a:solidFill>
                <a:latin typeface="Segoe UI"/>
              </a:rPr>
              <a:t>The head, trained on short clips where the event fills the frame, reports a high flat pedestal on long footage — baselines ranged 0.55 to 0.88, so no absolute threshold transfers. Thresholding on the rise above each video's own median found the events.</a:t>
            </a:r>
          </a:p>
        </p:txBody>
      </p:sp>
      <p:sp>
        <p:nvSpPr>
          <p:cNvPr id="25" name="TextBox 24"/>
          <p:cNvSpPr txBox="1"/>
          <p:nvPr/>
        </p:nvSpPr>
        <p:spPr>
          <a:xfrm>
            <a:off x="7726679" y="2779776"/>
            <a:ext cx="3794760" cy="219456"/>
          </a:xfrm>
          <a:prstGeom prst="rect">
            <a:avLst/>
          </a:prstGeom>
          <a:noFill/>
        </p:spPr>
        <p:txBody>
          <a:bodyPr wrap="square" anchor="t" lIns="0" rIns="0" tIns="0" bIns="0">
            <a:spAutoFit/>
          </a:bodyPr>
          <a:lstStyle/>
          <a:p>
            <a:pPr algn="l">
              <a:lnSpc>
                <a:spcPct val="100000"/>
              </a:lnSpc>
            </a:pPr>
            <a:r>
              <a:rPr sz="900" b="1">
                <a:solidFill>
                  <a:srgbClr val="4ADE80"/>
                </a:solidFill>
                <a:latin typeface="Segoe UI"/>
              </a:rPr>
              <a:t>L2 +0.12  ·  L3 +0.10</a:t>
            </a:r>
          </a:p>
        </p:txBody>
      </p:sp>
      <p:sp>
        <p:nvSpPr>
          <p:cNvPr id="26" name="Rounded Rectangle 25"/>
          <p:cNvSpPr/>
          <p:nvPr/>
        </p:nvSpPr>
        <p:spPr>
          <a:xfrm>
            <a:off x="7543800" y="3145536"/>
            <a:ext cx="4160520" cy="1298448"/>
          </a:xfrm>
          <a:prstGeom prst="roundRect">
            <a:avLst>
              <a:gd name="adj" fmla="val 8000"/>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26679" y="3264408"/>
            <a:ext cx="3794760" cy="237744"/>
          </a:xfrm>
          <a:prstGeom prst="rect">
            <a:avLst/>
          </a:prstGeom>
          <a:noFill/>
        </p:spPr>
        <p:txBody>
          <a:bodyPr wrap="square" anchor="t" lIns="0" rIns="0" tIns="0" bIns="0">
            <a:spAutoFit/>
          </a:bodyPr>
          <a:lstStyle/>
          <a:p>
            <a:pPr algn="l">
              <a:lnSpc>
                <a:spcPct val="100000"/>
              </a:lnSpc>
            </a:pPr>
            <a:r>
              <a:rPr sz="1100" b="1">
                <a:solidFill>
                  <a:srgbClr val="E8ECF4"/>
                </a:solidFill>
                <a:latin typeface="Segoe UI"/>
              </a:rPr>
              <a:t>Use each head for its own question</a:t>
            </a:r>
          </a:p>
        </p:txBody>
      </p:sp>
      <p:sp>
        <p:nvSpPr>
          <p:cNvPr id="28" name="TextBox 27"/>
          <p:cNvSpPr txBox="1"/>
          <p:nvPr/>
        </p:nvSpPr>
        <p:spPr>
          <a:xfrm>
            <a:off x="7726679" y="3529584"/>
            <a:ext cx="3794760" cy="658368"/>
          </a:xfrm>
          <a:prstGeom prst="rect">
            <a:avLst/>
          </a:prstGeom>
          <a:noFill/>
        </p:spPr>
        <p:txBody>
          <a:bodyPr wrap="square" anchor="t" lIns="0" rIns="0" tIns="0" bIns="0">
            <a:spAutoFit/>
          </a:bodyPr>
          <a:lstStyle/>
          <a:p>
            <a:pPr algn="l">
              <a:lnSpc>
                <a:spcPct val="108000"/>
              </a:lnSpc>
            </a:pPr>
            <a:r>
              <a:rPr sz="890" b="0">
                <a:solidFill>
                  <a:srgbClr val="8B93A7"/>
                </a:solidFill>
                <a:latin typeface="Segoe UI"/>
              </a:rPr>
              <a:t>The window head answers where; the clip head answers what. Letting the clip head classify each detected span, instead of pooling window votes, fixed whole videos at once.</a:t>
            </a:r>
          </a:p>
        </p:txBody>
      </p:sp>
      <p:sp>
        <p:nvSpPr>
          <p:cNvPr id="29" name="TextBox 28"/>
          <p:cNvSpPr txBox="1"/>
          <p:nvPr/>
        </p:nvSpPr>
        <p:spPr>
          <a:xfrm>
            <a:off x="7726679" y="4187952"/>
            <a:ext cx="3794760" cy="219456"/>
          </a:xfrm>
          <a:prstGeom prst="rect">
            <a:avLst/>
          </a:prstGeom>
          <a:noFill/>
        </p:spPr>
        <p:txBody>
          <a:bodyPr wrap="square" anchor="t" lIns="0" rIns="0" tIns="0" bIns="0">
            <a:spAutoFit/>
          </a:bodyPr>
          <a:lstStyle/>
          <a:p>
            <a:pPr algn="l">
              <a:lnSpc>
                <a:spcPct val="100000"/>
              </a:lnSpc>
            </a:pPr>
            <a:r>
              <a:rPr sz="900" b="1">
                <a:solidFill>
                  <a:srgbClr val="4ADE80"/>
                </a:solidFill>
                <a:latin typeface="Segoe UI"/>
              </a:rPr>
              <a:t>L3 0.296 → 0.414</a:t>
            </a:r>
          </a:p>
        </p:txBody>
      </p:sp>
      <p:sp>
        <p:nvSpPr>
          <p:cNvPr id="30" name="Rounded Rectangle 29"/>
          <p:cNvSpPr/>
          <p:nvPr/>
        </p:nvSpPr>
        <p:spPr>
          <a:xfrm>
            <a:off x="7543800" y="4553712"/>
            <a:ext cx="4160520" cy="1298448"/>
          </a:xfrm>
          <a:prstGeom prst="roundRect">
            <a:avLst>
              <a:gd name="adj" fmla="val 8000"/>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26679" y="4672584"/>
            <a:ext cx="3794760" cy="237744"/>
          </a:xfrm>
          <a:prstGeom prst="rect">
            <a:avLst/>
          </a:prstGeom>
          <a:noFill/>
        </p:spPr>
        <p:txBody>
          <a:bodyPr wrap="square" anchor="t" lIns="0" rIns="0" tIns="0" bIns="0">
            <a:spAutoFit/>
          </a:bodyPr>
          <a:lstStyle/>
          <a:p>
            <a:pPr algn="l">
              <a:lnSpc>
                <a:spcPct val="100000"/>
              </a:lnSpc>
            </a:pPr>
            <a:r>
              <a:rPr sz="1100" b="1">
                <a:solidFill>
                  <a:srgbClr val="E8ECF4"/>
                </a:solidFill>
                <a:latin typeface="Segoe UI"/>
              </a:rPr>
              <a:t>Merge gaps sized to real events</a:t>
            </a:r>
          </a:p>
        </p:txBody>
      </p:sp>
      <p:sp>
        <p:nvSpPr>
          <p:cNvPr id="32" name="TextBox 31"/>
          <p:cNvSpPr txBox="1"/>
          <p:nvPr/>
        </p:nvSpPr>
        <p:spPr>
          <a:xfrm>
            <a:off x="7726679" y="4937760"/>
            <a:ext cx="3794760" cy="658368"/>
          </a:xfrm>
          <a:prstGeom prst="rect">
            <a:avLst/>
          </a:prstGeom>
          <a:noFill/>
        </p:spPr>
        <p:txBody>
          <a:bodyPr wrap="square" anchor="t" lIns="0" rIns="0" tIns="0" bIns="0">
            <a:spAutoFit/>
          </a:bodyPr>
          <a:lstStyle/>
          <a:p>
            <a:pPr algn="l">
              <a:lnSpc>
                <a:spcPct val="108000"/>
              </a:lnSpc>
            </a:pPr>
            <a:r>
              <a:rPr sz="890" b="0">
                <a:solidFill>
                  <a:srgbClr val="8B93A7"/>
                </a:solidFill>
                <a:latin typeface="Segoe UI"/>
              </a:rPr>
              <a:t>Level-3 events run 45-125 s. A 5 s merge ceiling shattered one event into 13 fragments — and only the best-overlapping fragment can ever match.</a:t>
            </a:r>
          </a:p>
        </p:txBody>
      </p:sp>
      <p:sp>
        <p:nvSpPr>
          <p:cNvPr id="33" name="TextBox 32"/>
          <p:cNvSpPr txBox="1"/>
          <p:nvPr/>
        </p:nvSpPr>
        <p:spPr>
          <a:xfrm>
            <a:off x="7726679" y="5596128"/>
            <a:ext cx="3794760" cy="219456"/>
          </a:xfrm>
          <a:prstGeom prst="rect">
            <a:avLst/>
          </a:prstGeom>
          <a:noFill/>
        </p:spPr>
        <p:txBody>
          <a:bodyPr wrap="square" anchor="t" lIns="0" rIns="0" tIns="0" bIns="0">
            <a:spAutoFit/>
          </a:bodyPr>
          <a:lstStyle/>
          <a:p>
            <a:pPr algn="l">
              <a:lnSpc>
                <a:spcPct val="100000"/>
              </a:lnSpc>
            </a:pPr>
            <a:r>
              <a:rPr sz="900" b="1">
                <a:solidFill>
                  <a:srgbClr val="4ADE80"/>
                </a:solidFill>
                <a:latin typeface="Segoe UI"/>
              </a:rPr>
              <a:t>T031 0.200 → 0.848</a:t>
            </a:r>
          </a:p>
        </p:txBody>
      </p:sp>
      <p:sp>
        <p:nvSpPr>
          <p:cNvPr id="34" name="Rounded Rectangle 33"/>
          <p:cNvSpPr/>
          <p:nvPr/>
        </p:nvSpPr>
        <p:spPr>
          <a:xfrm>
            <a:off x="7543800" y="5961888"/>
            <a:ext cx="4160520" cy="621792"/>
          </a:xfrm>
          <a:prstGeom prst="roundRect">
            <a:avLst>
              <a:gd name="adj" fmla="val 15000"/>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26679" y="6053328"/>
            <a:ext cx="3794760" cy="219456"/>
          </a:xfrm>
          <a:prstGeom prst="rect">
            <a:avLst/>
          </a:prstGeom>
          <a:noFill/>
        </p:spPr>
        <p:txBody>
          <a:bodyPr wrap="square" anchor="t" lIns="0" rIns="0" tIns="0" bIns="0">
            <a:spAutoFit/>
          </a:bodyPr>
          <a:lstStyle/>
          <a:p>
            <a:pPr algn="l">
              <a:lnSpc>
                <a:spcPct val="100000"/>
              </a:lnSpc>
            </a:pPr>
            <a:r>
              <a:rPr sz="850" b="1">
                <a:solidFill>
                  <a:srgbClr val="F87171"/>
                </a:solidFill>
                <a:latin typeface="Segoe UI"/>
              </a:rPr>
              <a:t>WHAT WE TRIED AND DROPPED</a:t>
            </a:r>
          </a:p>
        </p:txBody>
      </p:sp>
      <p:sp>
        <p:nvSpPr>
          <p:cNvPr id="36" name="TextBox 35"/>
          <p:cNvSpPr txBox="1"/>
          <p:nvPr/>
        </p:nvSpPr>
        <p:spPr>
          <a:xfrm>
            <a:off x="7726679" y="6272784"/>
            <a:ext cx="3840480" cy="237744"/>
          </a:xfrm>
          <a:prstGeom prst="rect">
            <a:avLst/>
          </a:prstGeom>
          <a:noFill/>
        </p:spPr>
        <p:txBody>
          <a:bodyPr wrap="square" anchor="t" lIns="0" rIns="0" tIns="0" bIns="0">
            <a:spAutoFit/>
          </a:bodyPr>
          <a:lstStyle/>
          <a:p>
            <a:pPr algn="l">
              <a:lnSpc>
                <a:spcPct val="100000"/>
              </a:lnSpc>
            </a:pPr>
            <a:r>
              <a:rPr sz="819" b="0">
                <a:solidFill>
                  <a:srgbClr val="8B93A7"/>
                </a:solidFill>
                <a:latin typeface="Segoe UI"/>
              </a:rPr>
              <a:t>Larger SigLIP (segfaults at 4 GB) · zero-shot prompt fusion (0.29 alone, no lift) · one shared threshold for all tiers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