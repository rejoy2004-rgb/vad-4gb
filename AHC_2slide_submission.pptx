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8ECF4"/>
                </a:solidFill>
                <a:latin typeface="Segoe UI"/>
              </a:rPr>
              <a:t>Video anomaly detection on a 4 GB laptop GPU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50976"/>
            <a:ext cx="8595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8B93A7"/>
                </a:solidFill>
                <a:latin typeface="Segoe UI"/>
              </a:rPr>
              <a:t>Frozen vision-language encoder + two small trained heads  ·  11 classes  ·  20.3x real time on an RTX 3050 Laptop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72600" y="347472"/>
            <a:ext cx="2331720" cy="969264"/>
          </a:xfrm>
          <a:prstGeom prst="roundRect">
            <a:avLst>
              <a:gd name="adj" fmla="val 12000"/>
            </a:avLst>
          </a:prstGeom>
          <a:solidFill>
            <a:srgbClr val="1A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18904" y="466344"/>
            <a:ext cx="20391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5A623"/>
                </a:solidFill>
                <a:latin typeface="Segoe UI"/>
              </a:rPr>
              <a:t>60.7 / 100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18904" y="914400"/>
            <a:ext cx="2039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B93A7"/>
                </a:solidFill>
                <a:latin typeface="Segoe UI"/>
              </a:rPr>
              <a:t>ARENA SCORE · PUBLIC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727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A623"/>
                </a:solidFill>
                <a:latin typeface="Segoe UI"/>
              </a:rPr>
              <a:t>PIPELINE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938528"/>
            <a:ext cx="1755648" cy="1060704"/>
          </a:xfrm>
          <a:prstGeom prst="roundRect">
            <a:avLst>
              <a:gd name="adj" fmla="val 10000"/>
            </a:avLst>
          </a:prstGeom>
          <a:solidFill>
            <a:srgbClr val="1A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75688"/>
            <a:ext cx="15179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19" b="1">
                <a:solidFill>
                  <a:srgbClr val="E8ECF4"/>
                </a:solidFill>
                <a:latin typeface="Segoe UI"/>
              </a:rPr>
              <a:t>Drone / CCTV /
dashcam video</a:t>
            </a:r>
          </a:p>
        </p:txBody>
      </p:sp>
      <p:sp>
        <p:nvSpPr>
          <p:cNvPr id="12" name="Isosceles Triangle 11"/>
          <p:cNvSpPr/>
          <p:nvPr/>
        </p:nvSpPr>
        <p:spPr>
          <a:xfrm rot="5400000">
            <a:off x="2290572" y="2386584"/>
            <a:ext cx="137160" cy="173736"/>
          </a:xfrm>
          <a:prstGeom prst="triangle">
            <a:avLst/>
          </a:prstGeom>
          <a:solidFill>
            <a:srgbClr val="8B9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450591" y="1938528"/>
            <a:ext cx="1755648" cy="1060704"/>
          </a:xfrm>
          <a:prstGeom prst="roundRect">
            <a:avLst>
              <a:gd name="adj" fmla="val 10000"/>
            </a:avLst>
          </a:prstGeom>
          <a:solidFill>
            <a:srgbClr val="1A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69463" y="2075688"/>
            <a:ext cx="15179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19" b="1">
                <a:solidFill>
                  <a:srgbClr val="E8ECF4"/>
                </a:solidFill>
                <a:latin typeface="Segoe UI"/>
              </a:rPr>
              <a:t>Sample 2 fps
downsize on decode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9463" y="2670048"/>
            <a:ext cx="151790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40" b="0">
                <a:solidFill>
                  <a:srgbClr val="8B93A7"/>
                </a:solidFill>
                <a:latin typeface="Segoe UI"/>
              </a:rPr>
              <a:t>OpenCV</a:t>
            </a:r>
          </a:p>
        </p:txBody>
      </p:sp>
      <p:sp>
        <p:nvSpPr>
          <p:cNvPr id="16" name="Isosceles Triangle 15"/>
          <p:cNvSpPr/>
          <p:nvPr/>
        </p:nvSpPr>
        <p:spPr>
          <a:xfrm rot="5400000">
            <a:off x="4238244" y="2386584"/>
            <a:ext cx="137160" cy="173736"/>
          </a:xfrm>
          <a:prstGeom prst="triangle">
            <a:avLst/>
          </a:prstGeom>
          <a:solidFill>
            <a:srgbClr val="8B9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98264" y="1938528"/>
            <a:ext cx="1755648" cy="1060704"/>
          </a:xfrm>
          <a:prstGeom prst="roundRect">
            <a:avLst>
              <a:gd name="adj" fmla="val 10000"/>
            </a:avLst>
          </a:prstGeom>
          <a:solidFill>
            <a:srgbClr val="1A1F2B"/>
          </a:solidFill>
          <a:ln w="127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17136" y="2075688"/>
            <a:ext cx="15179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19" b="1">
                <a:solidFill>
                  <a:srgbClr val="E8ECF4"/>
                </a:solidFill>
                <a:latin typeface="Segoe UI"/>
              </a:rPr>
              <a:t>SigLIP-2 base
FROZEN, fp16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7136" y="2670048"/>
            <a:ext cx="151790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40" b="0">
                <a:solidFill>
                  <a:srgbClr val="F5A623"/>
                </a:solidFill>
                <a:latin typeface="Segoe UI"/>
              </a:rPr>
              <a:t>78 fps · 1.03 GB</a:t>
            </a:r>
          </a:p>
        </p:txBody>
      </p:sp>
      <p:sp>
        <p:nvSpPr>
          <p:cNvPr id="20" name="Isosceles Triangle 19"/>
          <p:cNvSpPr/>
          <p:nvPr/>
        </p:nvSpPr>
        <p:spPr>
          <a:xfrm rot="5400000">
            <a:off x="6185916" y="2386584"/>
            <a:ext cx="137160" cy="173736"/>
          </a:xfrm>
          <a:prstGeom prst="triangle">
            <a:avLst/>
          </a:prstGeom>
          <a:solidFill>
            <a:srgbClr val="8B9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45936" y="1938528"/>
            <a:ext cx="1755648" cy="1060704"/>
          </a:xfrm>
          <a:prstGeom prst="roundRect">
            <a:avLst>
              <a:gd name="adj" fmla="val 10000"/>
            </a:avLst>
          </a:prstGeom>
          <a:solidFill>
            <a:srgbClr val="1A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64807" y="2075688"/>
            <a:ext cx="15179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19" b="1">
                <a:solidFill>
                  <a:srgbClr val="E8ECF4"/>
                </a:solidFill>
                <a:latin typeface="Segoe UI"/>
              </a:rPr>
              <a:t>4 s windows
mean/max/std/drift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4807" y="2670048"/>
            <a:ext cx="151790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40" b="0">
                <a:solidFill>
                  <a:srgbClr val="8B93A7"/>
                </a:solidFill>
                <a:latin typeface="Segoe UI"/>
              </a:rPr>
              <a:t>2 s hop</a:t>
            </a:r>
          </a:p>
        </p:txBody>
      </p:sp>
      <p:sp>
        <p:nvSpPr>
          <p:cNvPr id="24" name="Isosceles Triangle 23"/>
          <p:cNvSpPr/>
          <p:nvPr/>
        </p:nvSpPr>
        <p:spPr>
          <a:xfrm rot="5400000">
            <a:off x="8133588" y="2386584"/>
            <a:ext cx="137160" cy="173736"/>
          </a:xfrm>
          <a:prstGeom prst="triangle">
            <a:avLst/>
          </a:prstGeom>
          <a:solidFill>
            <a:srgbClr val="8B9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293608" y="1938528"/>
            <a:ext cx="1755648" cy="1060704"/>
          </a:xfrm>
          <a:prstGeom prst="roundRect">
            <a:avLst>
              <a:gd name="adj" fmla="val 10000"/>
            </a:avLst>
          </a:prstGeom>
          <a:solidFill>
            <a:srgbClr val="1A1F2B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0" y="2075688"/>
            <a:ext cx="15179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19" b="1">
                <a:solidFill>
                  <a:srgbClr val="E8ECF4"/>
                </a:solidFill>
                <a:latin typeface="Segoe UI"/>
              </a:rPr>
              <a:t>Two MLP heads
window + clip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2670048"/>
            <a:ext cx="151790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40" b="0">
                <a:solidFill>
                  <a:srgbClr val="4ADE80"/>
                </a:solidFill>
                <a:latin typeface="Segoe UI"/>
              </a:rPr>
              <a:t>trained, &lt;1 min</a:t>
            </a:r>
          </a:p>
        </p:txBody>
      </p:sp>
      <p:sp>
        <p:nvSpPr>
          <p:cNvPr id="28" name="Isosceles Triangle 27"/>
          <p:cNvSpPr/>
          <p:nvPr/>
        </p:nvSpPr>
        <p:spPr>
          <a:xfrm rot="5400000">
            <a:off x="10081260" y="2386584"/>
            <a:ext cx="137160" cy="173736"/>
          </a:xfrm>
          <a:prstGeom prst="triangle">
            <a:avLst/>
          </a:prstGeom>
          <a:solidFill>
            <a:srgbClr val="8B9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241280" y="1938528"/>
            <a:ext cx="1755648" cy="1060704"/>
          </a:xfrm>
          <a:prstGeom prst="roundRect">
            <a:avLst>
              <a:gd name="adj" fmla="val 10000"/>
            </a:avLst>
          </a:prstGeom>
          <a:solidFill>
            <a:srgbClr val="1A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60152" y="2075688"/>
            <a:ext cx="15179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19" b="1">
                <a:solidFill>
                  <a:srgbClr val="E8ECF4"/>
                </a:solidFill>
                <a:latin typeface="Segoe UI"/>
              </a:rPr>
              <a:t>Hysteresis decoder
relative to baseline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0152" y="2670048"/>
            <a:ext cx="151790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40" b="0">
                <a:solidFill>
                  <a:srgbClr val="8B93A7"/>
                </a:solidFill>
                <a:latin typeface="Segoe UI"/>
              </a:rPr>
              <a:t>merge · gate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3218688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5A623"/>
                </a:solidFill>
                <a:latin typeface="Segoe UI"/>
              </a:rPr>
              <a:t>Encode once, reuse forever.  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8B93A7"/>
                </a:solidFill>
                <a:latin typeface="Segoe UI"/>
              </a:rPr>
              <a:t>The encoder is frozen, so all 3,207 videos are embedded once into a cache. Retraining a head then takes under a minute, which is what made same-day iteration on windowing and thresholds possible.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3767328"/>
            <a:ext cx="5532120" cy="2606040"/>
          </a:xfrm>
          <a:prstGeom prst="roundRect">
            <a:avLst>
              <a:gd name="adj" fmla="val 6000"/>
            </a:avLst>
          </a:prstGeom>
          <a:solidFill>
            <a:srgbClr val="1A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968496"/>
            <a:ext cx="4983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A623"/>
                </a:solidFill>
                <a:latin typeface="Segoe UI"/>
              </a:rPr>
              <a:t>WHY NOT RUN A VLM PER FRAME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315968"/>
            <a:ext cx="498348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E8ECF4"/>
                </a:solidFill>
                <a:latin typeface="Segoe UI"/>
              </a:rPr>
              <a:t>4 GB rules out fine-tuning a 2B VLM locally. So we froze one and trained only what sits on top.</a:t>
            </a:r>
          </a:p>
          <a:p>
            <a:pPr algn="l">
              <a:lnSpc>
                <a:spcPct val="105000"/>
              </a:lnSpc>
              <a:spcBef>
                <a:spcPts val="900"/>
              </a:spcBef>
            </a:pPr>
            <a:r>
              <a:rPr sz="1100" b="0">
                <a:solidFill>
                  <a:srgbClr val="8B93A7"/>
                </a:solidFill>
                <a:latin typeface="Segoe UI"/>
              </a:rPr>
              <a:t>The always-on stage is, in the end, a 12-way decision — orders of magnitude cheaper as a head over frozen embeddings than as generative decoding. The open-vocabulary semantics still come from the VLM; only the task-specific part is learned.</a:t>
            </a:r>
          </a:p>
          <a:p>
            <a:pPr algn="l">
              <a:lnSpc>
                <a:spcPct val="105000"/>
              </a:lnSpc>
              <a:spcBef>
                <a:spcPts val="900"/>
              </a:spcBef>
            </a:pPr>
            <a:r>
              <a:rPr sz="1100" b="0">
                <a:solidFill>
                  <a:srgbClr val="8B93A7"/>
                </a:solidFill>
                <a:latin typeface="Segoe UI"/>
              </a:rPr>
              <a:t>Explanations use nearest-neighbour retrieval over training descriptions in the same embedding space — one dot product per event, no generative model.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63640" y="3767328"/>
            <a:ext cx="5440680" cy="2606040"/>
          </a:xfrm>
          <a:prstGeom prst="roundRect">
            <a:avLst>
              <a:gd name="adj" fmla="val 6000"/>
            </a:avLst>
          </a:prstGeom>
          <a:solidFill>
            <a:srgbClr val="1A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37960" y="396849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A623"/>
                </a:solidFill>
                <a:latin typeface="Segoe UI"/>
              </a:rPr>
              <a:t>SPEED, MEASURED END TO END</a:t>
            </a:r>
          </a:p>
        </p:txBody>
      </p:sp>
      <p:pic>
        <p:nvPicPr>
          <p:cNvPr id="38" name="Picture 37" descr="chart_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79392"/>
            <a:ext cx="2206233" cy="14813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601200" y="4370832"/>
            <a:ext cx="19659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E8ECF4"/>
                </a:solidFill>
                <a:latin typeface="Segoe UI"/>
              </a:rPr>
              <a:t>3,391 s</a:t>
            </a:r>
          </a:p>
          <a:p>
            <a:pPr algn="l">
              <a:lnSpc>
                <a:spcPct val="100000"/>
              </a:lnSpc>
            </a:pPr>
            <a:r>
              <a:rPr sz="950" b="0">
                <a:solidFill>
                  <a:srgbClr val="8B93A7"/>
                </a:solidFill>
                <a:latin typeface="Segoe UI"/>
              </a:rPr>
              <a:t>of video</a:t>
            </a:r>
          </a:p>
          <a:p>
            <a:pPr algn="l">
              <a:lnSpc>
                <a:spcPct val="100000"/>
              </a:lnSpc>
              <a:spcBef>
                <a:spcPts val="700"/>
              </a:spcBef>
            </a:pPr>
            <a:r>
              <a:rPr sz="1700" b="1">
                <a:solidFill>
                  <a:srgbClr val="E8ECF4"/>
                </a:solidFill>
                <a:latin typeface="Segoe UI"/>
              </a:rPr>
              <a:t>167 s</a:t>
            </a:r>
          </a:p>
          <a:p>
            <a:pPr algn="l">
              <a:lnSpc>
                <a:spcPct val="100000"/>
              </a:lnSpc>
            </a:pPr>
            <a:r>
              <a:rPr sz="950" b="0">
                <a:solidFill>
                  <a:srgbClr val="8B93A7"/>
                </a:solidFill>
                <a:latin typeface="Segoe UI"/>
              </a:rPr>
              <a:t>to process, incl. decode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37960" y="587044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4ADE80"/>
                </a:solidFill>
                <a:latin typeface="Segoe UI"/>
              </a:rPr>
              <a:t>Decode is the bottleneck, not the GPU.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8B93A7"/>
                </a:solidFill>
                <a:latin typeface="Segoe UI"/>
              </a:rPr>
              <a:t>Encoding 2 fps costs 1.03 GB and leaves headroom for many streams.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8229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E8ECF4"/>
                </a:solidFill>
                <a:latin typeface="Segoe UI"/>
              </a:rPr>
              <a:t>What moved the score, and what didn't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B93A7"/>
                </a:solidFill>
                <a:latin typeface="Segoe UI"/>
              </a:rPr>
              <a:t>Real arena marks across 15 scored runs. D1 is worth 25, D2 35, D3 40.</a:t>
            </a:r>
          </a:p>
        </p:txBody>
      </p:sp>
      <p:pic>
        <p:nvPicPr>
          <p:cNvPr id="6" name="Picture 5" descr="chart_p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6766560" cy="2788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2452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A623"/>
                </a:solidFill>
                <a:latin typeface="Segoe UI"/>
              </a:rPr>
              <a:t>FINAL, BY DIFFICULTY TIER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535424"/>
            <a:ext cx="2121408" cy="1078992"/>
          </a:xfrm>
          <a:prstGeom prst="roundRect">
            <a:avLst>
              <a:gd name="adj" fmla="val 10000"/>
            </a:avLst>
          </a:prstGeom>
          <a:solidFill>
            <a:srgbClr val="1A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4636008"/>
            <a:ext cx="1828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B93A7"/>
                </a:solidFill>
                <a:latin typeface="Segoe UI"/>
              </a:rPr>
              <a:t>Difficulty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4846320"/>
            <a:ext cx="1828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E8ECF4"/>
                </a:solidFill>
                <a:latin typeface="Segoe UI"/>
              </a:rPr>
              <a:t>63.7%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5193792"/>
            <a:ext cx="1828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A623"/>
                </a:solidFill>
                <a:latin typeface="Segoe UI"/>
              </a:rPr>
              <a:t>15.9 / 25 marks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5394960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B93A7"/>
                </a:solidFill>
                <a:latin typeface="Segoe UI"/>
              </a:rPr>
              <a:t>class confusion is the wall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07208" y="4535424"/>
            <a:ext cx="2121408" cy="1078992"/>
          </a:xfrm>
          <a:prstGeom prst="roundRect">
            <a:avLst>
              <a:gd name="adj" fmla="val 10000"/>
            </a:avLst>
          </a:prstGeom>
          <a:solidFill>
            <a:srgbClr val="1A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53512" y="4636008"/>
            <a:ext cx="1828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B93A7"/>
                </a:solidFill>
                <a:latin typeface="Segoe UI"/>
              </a:rPr>
              <a:t>Difficulty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3512" y="4846320"/>
            <a:ext cx="1828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E8ECF4"/>
                </a:solidFill>
                <a:latin typeface="Segoe UI"/>
              </a:rPr>
              <a:t>70.3%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53512" y="5193792"/>
            <a:ext cx="1828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A623"/>
                </a:solidFill>
                <a:latin typeface="Segoe UI"/>
              </a:rPr>
              <a:t>24.6 / 35 marks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53512" y="5394960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B93A7"/>
                </a:solidFill>
                <a:latin typeface="Segoe UI"/>
              </a:rPr>
              <a:t>oracle ceiling 24.8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11496" y="4535424"/>
            <a:ext cx="2121408" cy="1078992"/>
          </a:xfrm>
          <a:prstGeom prst="roundRect">
            <a:avLst>
              <a:gd name="adj" fmla="val 10000"/>
            </a:avLst>
          </a:prstGeom>
          <a:solidFill>
            <a:srgbClr val="1A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57800" y="4636008"/>
            <a:ext cx="1828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B93A7"/>
                </a:solidFill>
                <a:latin typeface="Segoe UI"/>
              </a:rPr>
              <a:t>Difficulty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4846320"/>
            <a:ext cx="1828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E8ECF4"/>
                </a:solidFill>
                <a:latin typeface="Segoe UI"/>
              </a:rPr>
              <a:t>50.4%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5193792"/>
            <a:ext cx="1828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A623"/>
                </a:solidFill>
                <a:latin typeface="Segoe UI"/>
              </a:rPr>
              <a:t>20.2 / 40 marks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57800" y="5394960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B93A7"/>
                </a:solidFill>
                <a:latin typeface="Segoe UI"/>
              </a:rPr>
              <a:t>oracle ceiling 19.8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806440"/>
            <a:ext cx="67665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80" b="1">
                <a:solidFill>
                  <a:srgbClr val="F5A623"/>
                </a:solidFill>
                <a:latin typeface="Segoe UI"/>
              </a:rPr>
              <a:t>Honest caveat.  </a:t>
            </a:r>
          </a:p>
          <a:p>
            <a:pPr algn="l">
              <a:lnSpc>
                <a:spcPct val="115000"/>
              </a:lnSpc>
            </a:pPr>
            <a:r>
              <a:rPr sz="980" b="0">
                <a:solidFill>
                  <a:srgbClr val="8B93A7"/>
                </a:solidFill>
                <a:latin typeface="Segoe UI"/>
              </a:rPr>
              <a:t>The decoder is tuned on 6 Difficulty-2 and 4 Difficulty-3 videos, so those thresholds are the least trustworthy part of the system, and ties break toward the least aggressive setting. Our scorer matches the published structure of the metric; the exact within-tier weighting isn't published, so it ranks configurations rather than predicting the leaderboard.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800" y="1371600"/>
            <a:ext cx="4160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A623"/>
                </a:solidFill>
                <a:latin typeface="Segoe UI"/>
              </a:rPr>
              <a:t>THREE THINGS THAT MATTERED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43800" y="1737360"/>
            <a:ext cx="4160520" cy="1298448"/>
          </a:xfrm>
          <a:prstGeom prst="roundRect">
            <a:avLst>
              <a:gd name="adj" fmla="val 8000"/>
            </a:avLst>
          </a:prstGeom>
          <a:solidFill>
            <a:srgbClr val="1A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26679" y="1856231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8ECF4"/>
                </a:solidFill>
                <a:latin typeface="Segoe UI"/>
              </a:rPr>
              <a:t>Score against each video's own baseline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26679" y="2121408"/>
            <a:ext cx="37947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890" b="0">
                <a:solidFill>
                  <a:srgbClr val="8B93A7"/>
                </a:solidFill>
                <a:latin typeface="Segoe UI"/>
              </a:rPr>
              <a:t>The head, trained on short clips where the event fills the frame, reports a high flat pedestal on long footage — baselines ranged 0.55 to 0.88, so no absolute threshold transfers. Thresholding on the rise above each video's own median found the events.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26679" y="2779776"/>
            <a:ext cx="3794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4ADE80"/>
                </a:solidFill>
                <a:latin typeface="Segoe UI"/>
              </a:rPr>
              <a:t>L2 +0.12  ·  L3 +0.10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43800" y="3145536"/>
            <a:ext cx="4160520" cy="1298448"/>
          </a:xfrm>
          <a:prstGeom prst="roundRect">
            <a:avLst>
              <a:gd name="adj" fmla="val 8000"/>
            </a:avLst>
          </a:prstGeom>
          <a:solidFill>
            <a:srgbClr val="1A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26679" y="3264408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8ECF4"/>
                </a:solidFill>
                <a:latin typeface="Segoe UI"/>
              </a:rPr>
              <a:t>Use each head for its own question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6679" y="3529584"/>
            <a:ext cx="37947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890" b="0">
                <a:solidFill>
                  <a:srgbClr val="8B93A7"/>
                </a:solidFill>
                <a:latin typeface="Segoe UI"/>
              </a:rPr>
              <a:t>The window head answers where; the clip head answers what. Letting the clip head classify each detected span, instead of pooling window votes, fixed whole videos at once.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26679" y="4187952"/>
            <a:ext cx="3794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4ADE80"/>
                </a:solidFill>
                <a:latin typeface="Segoe UI"/>
              </a:rPr>
              <a:t>L3 0.296 → 0.414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43800" y="4553712"/>
            <a:ext cx="4160520" cy="1298448"/>
          </a:xfrm>
          <a:prstGeom prst="roundRect">
            <a:avLst>
              <a:gd name="adj" fmla="val 8000"/>
            </a:avLst>
          </a:prstGeom>
          <a:solidFill>
            <a:srgbClr val="1A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26679" y="4672584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8ECF4"/>
                </a:solidFill>
                <a:latin typeface="Segoe UI"/>
              </a:rPr>
              <a:t>We proved when to stop tuning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26679" y="4937760"/>
            <a:ext cx="37947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890" b="0">
                <a:solidFill>
                  <a:srgbClr val="8B93A7"/>
                </a:solidFill>
                <a:latin typeface="Segoe UI"/>
              </a:rPr>
              <a:t>Oracle search over ~15,000 decoder configs, scoring each video at its own best setting, tops out near 61 marks — we are at 60.7. Two D3 videos sit exactly at their ceiling: no threshold can rank their events.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26679" y="5596128"/>
            <a:ext cx="3794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87171"/>
                </a:solidFill>
                <a:latin typeface="Segoe UI"/>
              </a:rPr>
              <a:t>Decoder is finished; encoder is the wall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543800" y="5961888"/>
            <a:ext cx="4160520" cy="749808"/>
          </a:xfrm>
          <a:prstGeom prst="roundRect">
            <a:avLst>
              <a:gd name="adj" fmla="val 12000"/>
            </a:avLst>
          </a:prstGeom>
          <a:solidFill>
            <a:srgbClr val="1A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26679" y="6062472"/>
            <a:ext cx="3794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F87171"/>
                </a:solidFill>
                <a:latin typeface="Segoe UI"/>
              </a:rPr>
              <a:t>WHAT WE TRIED AND DROPPED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6679" y="6281928"/>
            <a:ext cx="38221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0">
                <a:solidFill>
                  <a:srgbClr val="8B93A7"/>
                </a:solidFill>
                <a:latin typeface="Segoe UI"/>
              </a:rPr>
              <a:t>Contrast-to-baseline features: +0.8% held-out, but test AUC collapsed 0.86→0.53 · logit adjustment for rare classes: zero lift · TTA: zero lift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