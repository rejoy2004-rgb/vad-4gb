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65760"/>
            <a:ext cx="8595360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600" b="1">
                <a:solidFill>
                  <a:srgbClr val="E8ECF4"/>
                </a:solidFill>
                <a:latin typeface="Segoe UI"/>
              </a:rPr>
              <a:t>Video anomaly detection on a 4 GB laptop GPU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50976"/>
            <a:ext cx="8595360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50" b="0">
                <a:solidFill>
                  <a:srgbClr val="8B93A7"/>
                </a:solidFill>
                <a:latin typeface="Segoe UI"/>
              </a:rPr>
              <a:t>Frozen vision-language encoder + two small trained heads  ·  11 classes  ·  20.3x real time on an RTX 3050 Laptop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9372600" y="347472"/>
            <a:ext cx="2331720" cy="969264"/>
          </a:xfrm>
          <a:prstGeom prst="roundRect">
            <a:avLst>
              <a:gd name="adj" fmla="val 12000"/>
            </a:avLst>
          </a:prstGeom>
          <a:solidFill>
            <a:srgbClr val="1A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518904" y="466344"/>
            <a:ext cx="2039112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300" b="1">
                <a:solidFill>
                  <a:srgbClr val="F5A623"/>
                </a:solidFill>
                <a:latin typeface="Segoe UI"/>
              </a:rPr>
              <a:t>59.5 / 100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18904" y="914400"/>
            <a:ext cx="2039112" cy="31089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B93A7"/>
                </a:solidFill>
                <a:latin typeface="Segoe UI"/>
              </a:rPr>
              <a:t>PROJECTED MARKS · PUBLIC TEST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1572768"/>
            <a:ext cx="54864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A623"/>
                </a:solidFill>
                <a:latin typeface="Segoe UI"/>
              </a:rPr>
              <a:t>PIPELINE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2920" y="1938528"/>
            <a:ext cx="1755648" cy="1060704"/>
          </a:xfrm>
          <a:prstGeom prst="roundRect">
            <a:avLst>
              <a:gd name="adj" fmla="val 10000"/>
            </a:avLst>
          </a:prstGeom>
          <a:solidFill>
            <a:srgbClr val="1A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21792" y="2075688"/>
            <a:ext cx="15179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019" b="1">
                <a:solidFill>
                  <a:srgbClr val="E8ECF4"/>
                </a:solidFill>
                <a:latin typeface="Segoe UI"/>
              </a:rPr>
              <a:t>Drone / CCTV /
dashcam video</a:t>
            </a:r>
          </a:p>
        </p:txBody>
      </p:sp>
      <p:sp>
        <p:nvSpPr>
          <p:cNvPr id="12" name="Isosceles Triangle 11"/>
          <p:cNvSpPr/>
          <p:nvPr/>
        </p:nvSpPr>
        <p:spPr>
          <a:xfrm rot="5400000">
            <a:off x="2290572" y="2386584"/>
            <a:ext cx="137160" cy="173736"/>
          </a:xfrm>
          <a:prstGeom prst="triangle">
            <a:avLst/>
          </a:prstGeom>
          <a:solidFill>
            <a:srgbClr val="8B9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2450591" y="1938528"/>
            <a:ext cx="1755648" cy="1060704"/>
          </a:xfrm>
          <a:prstGeom prst="roundRect">
            <a:avLst>
              <a:gd name="adj" fmla="val 10000"/>
            </a:avLst>
          </a:prstGeom>
          <a:solidFill>
            <a:srgbClr val="1A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569463" y="2075688"/>
            <a:ext cx="15179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019" b="1">
                <a:solidFill>
                  <a:srgbClr val="E8ECF4"/>
                </a:solidFill>
                <a:latin typeface="Segoe UI"/>
              </a:rPr>
              <a:t>Sample 2 fps
downsize on decode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569463" y="2670048"/>
            <a:ext cx="151790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40" b="0">
                <a:solidFill>
                  <a:srgbClr val="8B93A7"/>
                </a:solidFill>
                <a:latin typeface="Segoe UI"/>
              </a:rPr>
              <a:t>OpenCV</a:t>
            </a:r>
          </a:p>
        </p:txBody>
      </p:sp>
      <p:sp>
        <p:nvSpPr>
          <p:cNvPr id="16" name="Isosceles Triangle 15"/>
          <p:cNvSpPr/>
          <p:nvPr/>
        </p:nvSpPr>
        <p:spPr>
          <a:xfrm rot="5400000">
            <a:off x="4238244" y="2386584"/>
            <a:ext cx="137160" cy="173736"/>
          </a:xfrm>
          <a:prstGeom prst="triangle">
            <a:avLst/>
          </a:prstGeom>
          <a:solidFill>
            <a:srgbClr val="8B9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4398264" y="1938528"/>
            <a:ext cx="1755648" cy="1060704"/>
          </a:xfrm>
          <a:prstGeom prst="roundRect">
            <a:avLst>
              <a:gd name="adj" fmla="val 10000"/>
            </a:avLst>
          </a:prstGeom>
          <a:solidFill>
            <a:srgbClr val="1A1F2B"/>
          </a:solidFill>
          <a:ln w="12700">
            <a:solidFill>
              <a:srgbClr val="F5A623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4517136" y="2075688"/>
            <a:ext cx="15179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019" b="1">
                <a:solidFill>
                  <a:srgbClr val="E8ECF4"/>
                </a:solidFill>
                <a:latin typeface="Segoe UI"/>
              </a:rPr>
              <a:t>SigLIP-2 base
FROZEN, fp16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517136" y="2670048"/>
            <a:ext cx="151790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40" b="0">
                <a:solidFill>
                  <a:srgbClr val="F5A623"/>
                </a:solidFill>
                <a:latin typeface="Segoe UI"/>
              </a:rPr>
              <a:t>78 fps · 1.03 GB</a:t>
            </a:r>
          </a:p>
        </p:txBody>
      </p:sp>
      <p:sp>
        <p:nvSpPr>
          <p:cNvPr id="20" name="Isosceles Triangle 19"/>
          <p:cNvSpPr/>
          <p:nvPr/>
        </p:nvSpPr>
        <p:spPr>
          <a:xfrm rot="5400000">
            <a:off x="6185916" y="2386584"/>
            <a:ext cx="137160" cy="173736"/>
          </a:xfrm>
          <a:prstGeom prst="triangle">
            <a:avLst/>
          </a:prstGeom>
          <a:solidFill>
            <a:srgbClr val="8B9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6345936" y="1938528"/>
            <a:ext cx="1755648" cy="1060704"/>
          </a:xfrm>
          <a:prstGeom prst="roundRect">
            <a:avLst>
              <a:gd name="adj" fmla="val 10000"/>
            </a:avLst>
          </a:prstGeom>
          <a:solidFill>
            <a:srgbClr val="1A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64807" y="2075688"/>
            <a:ext cx="15179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019" b="1">
                <a:solidFill>
                  <a:srgbClr val="E8ECF4"/>
                </a:solidFill>
                <a:latin typeface="Segoe UI"/>
              </a:rPr>
              <a:t>4 s windows
mean/max/std/drift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64807" y="2670048"/>
            <a:ext cx="151790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40" b="0">
                <a:solidFill>
                  <a:srgbClr val="8B93A7"/>
                </a:solidFill>
                <a:latin typeface="Segoe UI"/>
              </a:rPr>
              <a:t>2 s hop</a:t>
            </a:r>
          </a:p>
        </p:txBody>
      </p:sp>
      <p:sp>
        <p:nvSpPr>
          <p:cNvPr id="24" name="Isosceles Triangle 23"/>
          <p:cNvSpPr/>
          <p:nvPr/>
        </p:nvSpPr>
        <p:spPr>
          <a:xfrm rot="5400000">
            <a:off x="8133588" y="2386584"/>
            <a:ext cx="137160" cy="173736"/>
          </a:xfrm>
          <a:prstGeom prst="triangle">
            <a:avLst/>
          </a:prstGeom>
          <a:solidFill>
            <a:srgbClr val="8B9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293608" y="1938528"/>
            <a:ext cx="1755648" cy="1060704"/>
          </a:xfrm>
          <a:prstGeom prst="roundRect">
            <a:avLst>
              <a:gd name="adj" fmla="val 10000"/>
            </a:avLst>
          </a:prstGeom>
          <a:solidFill>
            <a:srgbClr val="1A1F2B"/>
          </a:solidFill>
          <a:ln w="12700">
            <a:solidFill>
              <a:srgbClr val="4ADE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412480" y="2075688"/>
            <a:ext cx="15179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019" b="1">
                <a:solidFill>
                  <a:srgbClr val="E8ECF4"/>
                </a:solidFill>
                <a:latin typeface="Segoe UI"/>
              </a:rPr>
              <a:t>Two MLP heads
window + clip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8412480" y="2670048"/>
            <a:ext cx="151790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40" b="0">
                <a:solidFill>
                  <a:srgbClr val="4ADE80"/>
                </a:solidFill>
                <a:latin typeface="Segoe UI"/>
              </a:rPr>
              <a:t>trained, &lt;1 min</a:t>
            </a:r>
          </a:p>
        </p:txBody>
      </p:sp>
      <p:sp>
        <p:nvSpPr>
          <p:cNvPr id="28" name="Isosceles Triangle 27"/>
          <p:cNvSpPr/>
          <p:nvPr/>
        </p:nvSpPr>
        <p:spPr>
          <a:xfrm rot="5400000">
            <a:off x="10081260" y="2386584"/>
            <a:ext cx="137160" cy="173736"/>
          </a:xfrm>
          <a:prstGeom prst="triangle">
            <a:avLst/>
          </a:prstGeom>
          <a:solidFill>
            <a:srgbClr val="8B93A7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Rounded Rectangle 28"/>
          <p:cNvSpPr/>
          <p:nvPr/>
        </p:nvSpPr>
        <p:spPr>
          <a:xfrm>
            <a:off x="10241280" y="1938528"/>
            <a:ext cx="1755648" cy="1060704"/>
          </a:xfrm>
          <a:prstGeom prst="roundRect">
            <a:avLst>
              <a:gd name="adj" fmla="val 10000"/>
            </a:avLst>
          </a:prstGeom>
          <a:solidFill>
            <a:srgbClr val="1A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10360152" y="2075688"/>
            <a:ext cx="1517904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95000"/>
              </a:lnSpc>
            </a:pPr>
            <a:r>
              <a:rPr sz="1019" b="1">
                <a:solidFill>
                  <a:srgbClr val="E8ECF4"/>
                </a:solidFill>
                <a:latin typeface="Segoe UI"/>
              </a:rPr>
              <a:t>Hysteresis decoder
relative to baseline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0360152" y="2670048"/>
            <a:ext cx="1517904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>
              <a:lnSpc>
                <a:spcPct val="100000"/>
              </a:lnSpc>
            </a:pPr>
            <a:r>
              <a:rPr sz="840" b="0">
                <a:solidFill>
                  <a:srgbClr val="8B93A7"/>
                </a:solidFill>
                <a:latin typeface="Segoe UI"/>
              </a:rPr>
              <a:t>merge · gate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02920" y="3218688"/>
            <a:ext cx="111556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F5A623"/>
                </a:solidFill>
                <a:latin typeface="Segoe UI"/>
              </a:rPr>
              <a:t>Encode once, reuse forever.  </a:t>
            </a:r>
          </a:p>
          <a:p>
            <a:pPr algn="l">
              <a:lnSpc>
                <a:spcPct val="100000"/>
              </a:lnSpc>
            </a:pPr>
            <a:r>
              <a:rPr sz="1100" b="0">
                <a:solidFill>
                  <a:srgbClr val="8B93A7"/>
                </a:solidFill>
                <a:latin typeface="Segoe UI"/>
              </a:rPr>
              <a:t>The encoder is frozen, so all 3,207 videos are embedded once into a cache. Retraining a head then takes under a minute, which is what made same-day iteration on windowing and thresholds possible.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02920" y="3767328"/>
            <a:ext cx="5532120" cy="2606040"/>
          </a:xfrm>
          <a:prstGeom prst="roundRect">
            <a:avLst>
              <a:gd name="adj" fmla="val 6000"/>
            </a:avLst>
          </a:prstGeom>
          <a:solidFill>
            <a:srgbClr val="1A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7240" y="3968496"/>
            <a:ext cx="498348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A623"/>
                </a:solidFill>
                <a:latin typeface="Segoe UI"/>
              </a:rPr>
              <a:t>WHY NOT RUN A VLM PER FRAME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7240" y="4315968"/>
            <a:ext cx="4983480" cy="1920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1150" b="0">
                <a:solidFill>
                  <a:srgbClr val="E8ECF4"/>
                </a:solidFill>
                <a:latin typeface="Segoe UI"/>
              </a:rPr>
              <a:t>4 GB rules out fine-tuning a 2B VLM locally. So we froze one and trained only what sits on top.</a:t>
            </a:r>
          </a:p>
          <a:p>
            <a:pPr algn="l">
              <a:lnSpc>
                <a:spcPct val="105000"/>
              </a:lnSpc>
              <a:spcBef>
                <a:spcPts val="900"/>
              </a:spcBef>
            </a:pPr>
            <a:r>
              <a:rPr sz="1100" b="0">
                <a:solidFill>
                  <a:srgbClr val="8B93A7"/>
                </a:solidFill>
                <a:latin typeface="Segoe UI"/>
              </a:rPr>
              <a:t>The always-on stage is, in the end, a 12-way decision — orders of magnitude cheaper as a head over frozen embeddings than as generative decoding. The open-vocabulary semantics still come from the VLM; only the task-specific part is learned.</a:t>
            </a:r>
          </a:p>
          <a:p>
            <a:pPr algn="l">
              <a:lnSpc>
                <a:spcPct val="105000"/>
              </a:lnSpc>
              <a:spcBef>
                <a:spcPts val="900"/>
              </a:spcBef>
            </a:pPr>
            <a:r>
              <a:rPr sz="1100" b="0">
                <a:solidFill>
                  <a:srgbClr val="8B93A7"/>
                </a:solidFill>
                <a:latin typeface="Segoe UI"/>
              </a:rPr>
              <a:t>Explanations use nearest-neighbour retrieval over training descriptions in the same embedding space — one dot product per event, no generative model.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6263640" y="3767328"/>
            <a:ext cx="5440680" cy="2606040"/>
          </a:xfrm>
          <a:prstGeom prst="roundRect">
            <a:avLst>
              <a:gd name="adj" fmla="val 6000"/>
            </a:avLst>
          </a:prstGeom>
          <a:solidFill>
            <a:srgbClr val="1A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6537960" y="3968496"/>
            <a:ext cx="49377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A623"/>
                </a:solidFill>
                <a:latin typeface="Segoe UI"/>
              </a:rPr>
              <a:t>SPEED, MEASURED END TO END</a:t>
            </a:r>
          </a:p>
        </p:txBody>
      </p:sp>
      <p:pic>
        <p:nvPicPr>
          <p:cNvPr id="38" name="Picture 37" descr="chart_latency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446520" y="4279392"/>
            <a:ext cx="2206233" cy="1481328"/>
          </a:xfrm>
          <a:prstGeom prst="rect">
            <a:avLst/>
          </a:prstGeom>
        </p:spPr>
      </p:pic>
      <p:sp>
        <p:nvSpPr>
          <p:cNvPr id="39" name="TextBox 38"/>
          <p:cNvSpPr txBox="1"/>
          <p:nvPr/>
        </p:nvSpPr>
        <p:spPr>
          <a:xfrm>
            <a:off x="9601200" y="4370832"/>
            <a:ext cx="1965960" cy="13716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700" b="1">
                <a:solidFill>
                  <a:srgbClr val="E8ECF4"/>
                </a:solidFill>
                <a:latin typeface="Segoe UI"/>
              </a:rPr>
              <a:t>3,391 s</a:t>
            </a:r>
          </a:p>
          <a:p>
            <a:pPr algn="l">
              <a:lnSpc>
                <a:spcPct val="100000"/>
              </a:lnSpc>
            </a:pPr>
            <a:r>
              <a:rPr sz="950" b="0">
                <a:solidFill>
                  <a:srgbClr val="8B93A7"/>
                </a:solidFill>
                <a:latin typeface="Segoe UI"/>
              </a:rPr>
              <a:t>of video</a:t>
            </a:r>
          </a:p>
          <a:p>
            <a:pPr algn="l">
              <a:lnSpc>
                <a:spcPct val="100000"/>
              </a:lnSpc>
              <a:spcBef>
                <a:spcPts val="700"/>
              </a:spcBef>
            </a:pPr>
            <a:r>
              <a:rPr sz="1700" b="1">
                <a:solidFill>
                  <a:srgbClr val="E8ECF4"/>
                </a:solidFill>
                <a:latin typeface="Segoe UI"/>
              </a:rPr>
              <a:t>167 s</a:t>
            </a:r>
          </a:p>
          <a:p>
            <a:pPr algn="l">
              <a:lnSpc>
                <a:spcPct val="100000"/>
              </a:lnSpc>
            </a:pPr>
            <a:r>
              <a:rPr sz="950" b="0">
                <a:solidFill>
                  <a:srgbClr val="8B93A7"/>
                </a:solidFill>
                <a:latin typeface="Segoe UI"/>
              </a:rPr>
              <a:t>to process, incl. decode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6537960" y="5870448"/>
            <a:ext cx="493776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4ADE80"/>
                </a:solidFill>
                <a:latin typeface="Segoe UI"/>
              </a:rPr>
              <a:t>Decode is the bottleneck, not the GPU. </a:t>
            </a:r>
          </a:p>
          <a:p>
            <a:pPr algn="l">
              <a:lnSpc>
                <a:spcPct val="100000"/>
              </a:lnSpc>
            </a:pPr>
            <a:r>
              <a:rPr sz="1050" b="0">
                <a:solidFill>
                  <a:srgbClr val="8B93A7"/>
                </a:solidFill>
                <a:latin typeface="Segoe UI"/>
              </a:rPr>
              <a:t>Encoding 2 fps costs 1.03 GB and leaves headroom for many streams.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10131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0"/>
            <a:ext cx="82296" cy="6858000"/>
          </a:xfrm>
          <a:prstGeom prst="rect">
            <a:avLst/>
          </a:prstGeom>
          <a:solidFill>
            <a:srgbClr val="F5A62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TextBox 3"/>
          <p:cNvSpPr txBox="1"/>
          <p:nvPr/>
        </p:nvSpPr>
        <p:spPr>
          <a:xfrm>
            <a:off x="502920" y="384048"/>
            <a:ext cx="8229600" cy="4114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2700" b="1">
                <a:solidFill>
                  <a:srgbClr val="E8ECF4"/>
                </a:solidFill>
                <a:latin typeface="Segoe UI"/>
              </a:rPr>
              <a:t>What moved the score, and what didn't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914400"/>
            <a:ext cx="822960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0">
                <a:solidFill>
                  <a:srgbClr val="8B93A7"/>
                </a:solidFill>
                <a:latin typeface="Segoe UI"/>
              </a:rPr>
              <a:t>Every number below is the same 34-video public test set, scored locally against a re-implementation of the arena metric</a:t>
            </a:r>
          </a:p>
        </p:txBody>
      </p:sp>
      <p:pic>
        <p:nvPicPr>
          <p:cNvPr id="6" name="Picture 5" descr="chart_progression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2920" y="1371600"/>
            <a:ext cx="6766560" cy="278892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502920" y="4224528"/>
            <a:ext cx="676656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A623"/>
                </a:solidFill>
                <a:latin typeface="Segoe UI"/>
              </a:rPr>
              <a:t>FINAL, BY DIFFICULTY TIER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535424"/>
            <a:ext cx="2121408" cy="1078992"/>
          </a:xfrm>
          <a:prstGeom prst="roundRect">
            <a:avLst>
              <a:gd name="adj" fmla="val 10000"/>
            </a:avLst>
          </a:prstGeom>
          <a:solidFill>
            <a:srgbClr val="1A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649224" y="4636008"/>
            <a:ext cx="1828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B93A7"/>
                </a:solidFill>
                <a:latin typeface="Segoe UI"/>
              </a:rPr>
              <a:t>Difficulty 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649224" y="4846320"/>
            <a:ext cx="1828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E8ECF4"/>
                </a:solidFill>
                <a:latin typeface="Segoe UI"/>
              </a:rPr>
              <a:t>0.750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9224" y="5193792"/>
            <a:ext cx="1828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A623"/>
                </a:solidFill>
                <a:latin typeface="Segoe UI"/>
              </a:rPr>
              <a:t>18.8 / 25 marks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9224" y="5394960"/>
            <a:ext cx="187451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B93A7"/>
                </a:solidFill>
                <a:latin typeface="Segoe UI"/>
              </a:rPr>
              <a:t>anomaly acc 23 of 24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07208" y="4535424"/>
            <a:ext cx="2121408" cy="1078992"/>
          </a:xfrm>
          <a:prstGeom prst="roundRect">
            <a:avLst>
              <a:gd name="adj" fmla="val 10000"/>
            </a:avLst>
          </a:prstGeom>
          <a:solidFill>
            <a:srgbClr val="1A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953512" y="4636008"/>
            <a:ext cx="1828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B93A7"/>
                </a:solidFill>
                <a:latin typeface="Segoe UI"/>
              </a:rPr>
              <a:t>Difficulty 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953512" y="4846320"/>
            <a:ext cx="1828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E8ECF4"/>
                </a:solidFill>
                <a:latin typeface="Segoe UI"/>
              </a:rPr>
              <a:t>0.674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953512" y="5193792"/>
            <a:ext cx="1828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A623"/>
                </a:solidFill>
                <a:latin typeface="Segoe UI"/>
              </a:rPr>
              <a:t>23.6 / 35 marks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2953512" y="5394960"/>
            <a:ext cx="187451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B93A7"/>
                </a:solidFill>
                <a:latin typeface="Segoe UI"/>
              </a:rPr>
              <a:t>both normals silent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111496" y="4535424"/>
            <a:ext cx="2121408" cy="1078992"/>
          </a:xfrm>
          <a:prstGeom prst="roundRect">
            <a:avLst>
              <a:gd name="adj" fmla="val 10000"/>
            </a:avLst>
          </a:prstGeom>
          <a:solidFill>
            <a:srgbClr val="1A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5257800" y="4636008"/>
            <a:ext cx="1828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50" b="0">
                <a:solidFill>
                  <a:srgbClr val="8B93A7"/>
                </a:solidFill>
                <a:latin typeface="Segoe UI"/>
              </a:rPr>
              <a:t>Difficulty 3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257800" y="4846320"/>
            <a:ext cx="1828800" cy="32918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900" b="1">
                <a:solidFill>
                  <a:srgbClr val="E8ECF4"/>
                </a:solidFill>
                <a:latin typeface="Segoe UI"/>
              </a:rPr>
              <a:t>0.430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257800" y="5193792"/>
            <a:ext cx="182880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A623"/>
                </a:solidFill>
                <a:latin typeface="Segoe UI"/>
              </a:rPr>
              <a:t>17.2 / 40 marks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57800" y="5394960"/>
            <a:ext cx="1874519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00" b="0">
                <a:solidFill>
                  <a:srgbClr val="8B93A7"/>
                </a:solidFill>
                <a:latin typeface="Segoe UI"/>
              </a:rPr>
              <a:t>weakest, and worth most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02920" y="5806440"/>
            <a:ext cx="6766560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980" b="1">
                <a:solidFill>
                  <a:srgbClr val="F5A623"/>
                </a:solidFill>
                <a:latin typeface="Segoe UI"/>
              </a:rPr>
              <a:t>Honest caveat.  </a:t>
            </a:r>
          </a:p>
          <a:p>
            <a:pPr algn="l">
              <a:lnSpc>
                <a:spcPct val="115000"/>
              </a:lnSpc>
            </a:pPr>
            <a:r>
              <a:rPr sz="980" b="0">
                <a:solidFill>
                  <a:srgbClr val="8B93A7"/>
                </a:solidFill>
                <a:latin typeface="Segoe UI"/>
              </a:rPr>
              <a:t>The decoder is tuned on 6 Difficulty-2 and 4 Difficulty-3 videos, so those thresholds are the least trustworthy part of the system, and ties break toward the least aggressive setting. Our scorer matches the published structure of the metric; the exact within-tier weighting isn't published, so it ranks configurations rather than predicting the leaderboard.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7543800" y="1371600"/>
            <a:ext cx="4160520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000" b="1">
                <a:solidFill>
                  <a:srgbClr val="F5A623"/>
                </a:solidFill>
                <a:latin typeface="Segoe UI"/>
              </a:rPr>
              <a:t>THREE THINGS THAT MATTERED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7543800" y="1737360"/>
            <a:ext cx="4160520" cy="1298448"/>
          </a:xfrm>
          <a:prstGeom prst="roundRect">
            <a:avLst>
              <a:gd name="adj" fmla="val 8000"/>
            </a:avLst>
          </a:prstGeom>
          <a:solidFill>
            <a:srgbClr val="1A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726679" y="1856231"/>
            <a:ext cx="3794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E8ECF4"/>
                </a:solidFill>
                <a:latin typeface="Segoe UI"/>
              </a:rPr>
              <a:t>Score against each video's own baseline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726679" y="2121408"/>
            <a:ext cx="37947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890" b="0">
                <a:solidFill>
                  <a:srgbClr val="8B93A7"/>
                </a:solidFill>
                <a:latin typeface="Segoe UI"/>
              </a:rPr>
              <a:t>The head, trained on short clips where the event fills the frame, reports a high flat pedestal on long footage — baselines ranged 0.55 to 0.88, so no absolute threshold transfers. Thresholding on the rise above each video's own median found the events.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726679" y="2779776"/>
            <a:ext cx="3794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4ADE80"/>
                </a:solidFill>
                <a:latin typeface="Segoe UI"/>
              </a:rPr>
              <a:t>L2 +0.12  ·  L3 +0.10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7543800" y="3145536"/>
            <a:ext cx="4160520" cy="1298448"/>
          </a:xfrm>
          <a:prstGeom prst="roundRect">
            <a:avLst>
              <a:gd name="adj" fmla="val 8000"/>
            </a:avLst>
          </a:prstGeom>
          <a:solidFill>
            <a:srgbClr val="1A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7726679" y="3264408"/>
            <a:ext cx="3794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E8ECF4"/>
                </a:solidFill>
                <a:latin typeface="Segoe UI"/>
              </a:rPr>
              <a:t>Use each head for its own question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726679" y="3529584"/>
            <a:ext cx="37947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890" b="0">
                <a:solidFill>
                  <a:srgbClr val="8B93A7"/>
                </a:solidFill>
                <a:latin typeface="Segoe UI"/>
              </a:rPr>
              <a:t>The window head answers where; the clip head answers what. Letting the clip head classify each detected span, instead of pooling window votes, fixed whole videos at once.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726679" y="4187952"/>
            <a:ext cx="3794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4ADE80"/>
                </a:solidFill>
                <a:latin typeface="Segoe UI"/>
              </a:rPr>
              <a:t>L3 0.296 → 0.414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543800" y="4553712"/>
            <a:ext cx="4160520" cy="1298448"/>
          </a:xfrm>
          <a:prstGeom prst="roundRect">
            <a:avLst>
              <a:gd name="adj" fmla="val 8000"/>
            </a:avLst>
          </a:prstGeom>
          <a:solidFill>
            <a:srgbClr val="1A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726679" y="4672584"/>
            <a:ext cx="3794760" cy="23774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1">
                <a:solidFill>
                  <a:srgbClr val="E8ECF4"/>
                </a:solidFill>
                <a:latin typeface="Segoe UI"/>
              </a:rPr>
              <a:t>Merge gaps sized to real events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726679" y="4937760"/>
            <a:ext cx="3794760" cy="6583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890" b="0">
                <a:solidFill>
                  <a:srgbClr val="8B93A7"/>
                </a:solidFill>
                <a:latin typeface="Segoe UI"/>
              </a:rPr>
              <a:t>Level-3 events run 45-125 s. A 5 s merge ceiling shattered one event into 13 fragments — and only the best-overlapping fragment can ever match.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726679" y="5596128"/>
            <a:ext cx="3794760" cy="219456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1">
                <a:solidFill>
                  <a:srgbClr val="4ADE80"/>
                </a:solidFill>
                <a:latin typeface="Segoe UI"/>
              </a:rPr>
              <a:t>T031 0.200 → 0.848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7543800" y="5961888"/>
            <a:ext cx="4160520" cy="749808"/>
          </a:xfrm>
          <a:prstGeom prst="roundRect">
            <a:avLst>
              <a:gd name="adj" fmla="val 12000"/>
            </a:avLst>
          </a:prstGeom>
          <a:solidFill>
            <a:srgbClr val="1A1F2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8" name="TextBox 37"/>
          <p:cNvSpPr txBox="1"/>
          <p:nvPr/>
        </p:nvSpPr>
        <p:spPr>
          <a:xfrm>
            <a:off x="7726679" y="6062472"/>
            <a:ext cx="3794760" cy="20116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850" b="1">
                <a:solidFill>
                  <a:srgbClr val="F87171"/>
                </a:solidFill>
                <a:latin typeface="Segoe UI"/>
              </a:rPr>
              <a:t>WHAT WE TRIED AND DROPPED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7726679" y="6281928"/>
            <a:ext cx="3822191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5000"/>
              </a:lnSpc>
            </a:pPr>
            <a:r>
              <a:rPr sz="819" b="0">
                <a:solidFill>
                  <a:srgbClr val="8B93A7"/>
                </a:solidFill>
                <a:latin typeface="Segoe UI"/>
              </a:rPr>
              <a:t>Larger SigLIP (segfaults at 4 GB) · zero-shot prompt fusion (0.29 alone, no lift) · one shared threshold for all tiers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