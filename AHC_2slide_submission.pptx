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CF4"/>
                </a:solidFill>
                <a:latin typeface="Segoe UI"/>
              </a:rPr>
              <a:t>Video anomaly detection on a 4 GB laptop 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8595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3A7"/>
                </a:solidFill>
                <a:latin typeface="Segoe UI"/>
              </a:rPr>
              <a:t>Frozen vision-language encoder + two small trained heads  ·  11 classes  ·  20.3x real time on an RTX 3050 Laptop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72600" y="347472"/>
            <a:ext cx="2331720" cy="969264"/>
          </a:xfrm>
          <a:prstGeom prst="roundRect">
            <a:avLst>
              <a:gd name="adj" fmla="val 12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18904" y="466344"/>
            <a:ext cx="2039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5A623"/>
                </a:solidFill>
                <a:latin typeface="Segoe UI"/>
              </a:rPr>
              <a:t>54.8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18904" y="914400"/>
            <a:ext cx="2039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93A7"/>
                </a:solidFill>
                <a:latin typeface="Segoe UI"/>
              </a:rPr>
              <a:t>PRIVATE EVALUATION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A623"/>
                </a:solidFill>
                <a:latin typeface="Segoe UI"/>
              </a:rPr>
              <a:t>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38528"/>
            <a:ext cx="1755648" cy="1060704"/>
          </a:xfrm>
          <a:prstGeom prst="roundRect">
            <a:avLst>
              <a:gd name="adj" fmla="val 10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7568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19" b="1">
                <a:solidFill>
                  <a:srgbClr val="E8ECF4"/>
                </a:solidFill>
                <a:latin typeface="Segoe UI"/>
              </a:rPr>
              <a:t>Drone / CCTV /
dashcam video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2290572" y="2386584"/>
            <a:ext cx="137160" cy="173736"/>
          </a:xfrm>
          <a:prstGeom prst="triangle">
            <a:avLst/>
          </a:prstGeom>
          <a:solidFill>
            <a:srgbClr val="8B9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0591" y="1938528"/>
            <a:ext cx="1755648" cy="1060704"/>
          </a:xfrm>
          <a:prstGeom prst="roundRect">
            <a:avLst>
              <a:gd name="adj" fmla="val 10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9463" y="207568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19" b="1">
                <a:solidFill>
                  <a:srgbClr val="E8ECF4"/>
                </a:solidFill>
                <a:latin typeface="Segoe UI"/>
              </a:rPr>
              <a:t>Sample 2 fps
downsize on decode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3" y="267004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8B93A7"/>
                </a:solidFill>
                <a:latin typeface="Segoe UI"/>
              </a:rPr>
              <a:t>OpenCV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4238244" y="2386584"/>
            <a:ext cx="137160" cy="173736"/>
          </a:xfrm>
          <a:prstGeom prst="triangle">
            <a:avLst/>
          </a:prstGeom>
          <a:solidFill>
            <a:srgbClr val="8B9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98264" y="1938528"/>
            <a:ext cx="1755648" cy="1060704"/>
          </a:xfrm>
          <a:prstGeom prst="roundRect">
            <a:avLst>
              <a:gd name="adj" fmla="val 10000"/>
            </a:avLst>
          </a:prstGeom>
          <a:solidFill>
            <a:srgbClr val="1A1F2B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207568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19" b="1">
                <a:solidFill>
                  <a:srgbClr val="E8ECF4"/>
                </a:solidFill>
                <a:latin typeface="Segoe UI"/>
              </a:rPr>
              <a:t>SigLIP-2 base
FROZEN, fp16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267004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F5A623"/>
                </a:solidFill>
                <a:latin typeface="Segoe UI"/>
              </a:rPr>
              <a:t>78 fps · 1.03 GB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6185916" y="2386584"/>
            <a:ext cx="137160" cy="173736"/>
          </a:xfrm>
          <a:prstGeom prst="triangle">
            <a:avLst/>
          </a:prstGeom>
          <a:solidFill>
            <a:srgbClr val="8B9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45936" y="1938528"/>
            <a:ext cx="1755648" cy="1060704"/>
          </a:xfrm>
          <a:prstGeom prst="roundRect">
            <a:avLst>
              <a:gd name="adj" fmla="val 10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207568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19" b="1">
                <a:solidFill>
                  <a:srgbClr val="E8ECF4"/>
                </a:solidFill>
                <a:latin typeface="Segoe UI"/>
              </a:rPr>
              <a:t>4 s windows
mean/max/std/drift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67004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8B93A7"/>
                </a:solidFill>
                <a:latin typeface="Segoe UI"/>
              </a:rPr>
              <a:t>2 s hop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8133588" y="2386584"/>
            <a:ext cx="137160" cy="173736"/>
          </a:xfrm>
          <a:prstGeom prst="triangle">
            <a:avLst/>
          </a:prstGeom>
          <a:solidFill>
            <a:srgbClr val="8B9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3608" y="1938528"/>
            <a:ext cx="1755648" cy="1060704"/>
          </a:xfrm>
          <a:prstGeom prst="roundRect">
            <a:avLst>
              <a:gd name="adj" fmla="val 10000"/>
            </a:avLst>
          </a:prstGeom>
          <a:solidFill>
            <a:srgbClr val="1A1F2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07568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19" b="1">
                <a:solidFill>
                  <a:srgbClr val="E8ECF4"/>
                </a:solidFill>
                <a:latin typeface="Segoe UI"/>
              </a:rPr>
              <a:t>Two MLP heads
window + clip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67004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4ADE80"/>
                </a:solidFill>
                <a:latin typeface="Segoe UI"/>
              </a:rPr>
              <a:t>trained, &lt;1 min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10081260" y="2386584"/>
            <a:ext cx="137160" cy="173736"/>
          </a:xfrm>
          <a:prstGeom prst="triangle">
            <a:avLst/>
          </a:prstGeom>
          <a:solidFill>
            <a:srgbClr val="8B9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41280" y="1938528"/>
            <a:ext cx="1755648" cy="1060704"/>
          </a:xfrm>
          <a:prstGeom prst="roundRect">
            <a:avLst>
              <a:gd name="adj" fmla="val 10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60152" y="207568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19" b="1">
                <a:solidFill>
                  <a:srgbClr val="E8ECF4"/>
                </a:solidFill>
                <a:latin typeface="Segoe UI"/>
              </a:rPr>
              <a:t>Hysteresis decoder
relative to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0152" y="267004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8B93A7"/>
                </a:solidFill>
                <a:latin typeface="Segoe UI"/>
              </a:rPr>
              <a:t>merge ·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21868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Segoe UI"/>
              </a:rPr>
              <a:t>Encode once, reuse forever.  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A7"/>
                </a:solidFill>
                <a:latin typeface="Segoe UI"/>
              </a:rPr>
              <a:t>The encoder is frozen, so all 3,207 videos are embedded once into a cache. Retraining a head then takes under a minute, which is what made same-day iteration on windowing and thresholds possible.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767328"/>
            <a:ext cx="5532120" cy="26060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968496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A623"/>
                </a:solidFill>
                <a:latin typeface="Segoe UI"/>
              </a:rPr>
              <a:t>WHY NOT RUN A VLM PER FRAME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315968"/>
            <a:ext cx="49834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ECF4"/>
                </a:solidFill>
                <a:latin typeface="Segoe UI"/>
              </a:rPr>
              <a:t>4 GB rules out fine-tuning a 2B VLM locally. So we froze one and trained only what sits on top.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0">
                <a:solidFill>
                  <a:srgbClr val="8B93A7"/>
                </a:solidFill>
                <a:latin typeface="Segoe UI"/>
              </a:rPr>
              <a:t>The always-on stage is, in the end, a 12-way decision — orders of magnitude cheaper as a head over frozen embeddings than as generative decoding. The open-vocabulary semantics still come from the VLM; only the task-specific part is learned.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0">
                <a:solidFill>
                  <a:srgbClr val="8B93A7"/>
                </a:solidFill>
                <a:latin typeface="Segoe UI"/>
              </a:rPr>
              <a:t>Explanations use nearest-neighbour retrieval over training descriptions in the same embedding space — one dot product per event, no generative model.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67328"/>
            <a:ext cx="5440680" cy="26060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96849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A623"/>
                </a:solidFill>
                <a:latin typeface="Segoe UI"/>
              </a:rPr>
              <a:t>SPEED, MEASURED END TO END</a:t>
            </a:r>
          </a:p>
        </p:txBody>
      </p:sp>
      <p:pic>
        <p:nvPicPr>
          <p:cNvPr id="38" name="Picture 37" descr="chart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79392"/>
            <a:ext cx="2206233" cy="14813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601200" y="4370832"/>
            <a:ext cx="1965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ECF4"/>
                </a:solidFill>
                <a:latin typeface="Segoe UI"/>
              </a:rPr>
              <a:t>3,391 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8B93A7"/>
                </a:solidFill>
                <a:latin typeface="Segoe UI"/>
              </a:rPr>
              <a:t>of video</a:t>
            </a:r>
          </a:p>
          <a:p>
            <a:pPr algn="l">
              <a:lnSpc>
                <a:spcPct val="100000"/>
              </a:lnSpc>
              <a:spcBef>
                <a:spcPts val="700"/>
              </a:spcBef>
            </a:pPr>
            <a:r>
              <a:rPr sz="1700" b="1">
                <a:solidFill>
                  <a:srgbClr val="E8ECF4"/>
                </a:solidFill>
                <a:latin typeface="Segoe UI"/>
              </a:rPr>
              <a:t>167 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8B93A7"/>
                </a:solidFill>
                <a:latin typeface="Segoe UI"/>
              </a:rPr>
              <a:t>to process, incl. decode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8704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ADE80"/>
                </a:solidFill>
                <a:latin typeface="Segoe UI"/>
              </a:rPr>
              <a:t>Decode is the bottleneck, not the GPU. 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93A7"/>
                </a:solidFill>
                <a:latin typeface="Segoe UI"/>
              </a:rPr>
              <a:t>Encoding 2 fps costs 1.03 GB and leaves headroom for many streams.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8ECF4"/>
                </a:solidFill>
                <a:latin typeface="Segoe UI"/>
              </a:rPr>
              <a:t>What moved the score, and what didn't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3A7"/>
                </a:solidFill>
                <a:latin typeface="Segoe UI"/>
              </a:rPr>
              <a:t>Private evaluation set, 28 videos. D1 is worth 25, D2 35, D3 40.</a:t>
            </a:r>
          </a:p>
        </p:txBody>
      </p:sp>
      <p:pic>
        <p:nvPicPr>
          <p:cNvPr id="6" name="Picture 5" descr="chart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766560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2452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A623"/>
                </a:solidFill>
                <a:latin typeface="Segoe UI"/>
              </a:rPr>
              <a:t>FINAL, BY DIFFICULTY TIER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35424"/>
            <a:ext cx="2121408" cy="1078992"/>
          </a:xfrm>
          <a:prstGeom prst="roundRect">
            <a:avLst>
              <a:gd name="adj" fmla="val 10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463600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93A7"/>
                </a:solidFill>
                <a:latin typeface="Segoe UI"/>
              </a:rPr>
              <a:t>Difficulty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4846320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ECF4"/>
                </a:solidFill>
                <a:latin typeface="Segoe UI"/>
              </a:rPr>
              <a:t>56.2%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519379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A623"/>
                </a:solidFill>
                <a:latin typeface="Segoe UI"/>
              </a:rPr>
              <a:t>14.1 / 25 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5394960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Segoe UI"/>
              </a:rPr>
              <a:t>class confusion is the wall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4535424"/>
            <a:ext cx="2121408" cy="1078992"/>
          </a:xfrm>
          <a:prstGeom prst="roundRect">
            <a:avLst>
              <a:gd name="adj" fmla="val 10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463600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93A7"/>
                </a:solidFill>
                <a:latin typeface="Segoe UI"/>
              </a:rPr>
              <a:t>Difficulty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4846320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ECF4"/>
                </a:solidFill>
                <a:latin typeface="Segoe UI"/>
              </a:rPr>
              <a:t>51.0%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519379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A623"/>
                </a:solidFill>
                <a:latin typeface="Segoe UI"/>
              </a:rPr>
              <a:t>17.9 / 35 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5394960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Segoe UI"/>
              </a:rPr>
              <a:t>event is part of the clip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11496" y="4535424"/>
            <a:ext cx="2121408" cy="1078992"/>
          </a:xfrm>
          <a:prstGeom prst="roundRect">
            <a:avLst>
              <a:gd name="adj" fmla="val 10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463600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93A7"/>
                </a:solidFill>
                <a:latin typeface="Segoe UI"/>
              </a:rPr>
              <a:t>Difficulty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846320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ECF4"/>
                </a:solidFill>
                <a:latin typeface="Segoe UI"/>
              </a:rPr>
              <a:t>57.0%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519379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A623"/>
                </a:solidFill>
                <a:latin typeface="Segoe UI"/>
              </a:rPr>
              <a:t>22.8 / 40 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5394960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Segoe UI"/>
              </a:rPr>
              <a:t>one span beat 4 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>
                <a:solidFill>
                  <a:srgbClr val="F5A623"/>
                </a:solidFill>
                <a:latin typeface="Segoe UI"/>
              </a:rPr>
              <a:t>Honest caveat.  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8B93A7"/>
                </a:solidFill>
                <a:latin typeface="Segoe UI"/>
              </a:rPr>
              <a:t>A decoder tuned to 60.7 on the practice pack scored 39.9 on the private set — thresholds fitted to 10 videos did not transfer, and the gain that mattered came from reading the scoring rule rather than from search. Class accuracy is now the binding constraint: stalled, road_spill, blocking and wrong_way are all 0% found, and no timing change fixes a wrong label.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137160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A623"/>
                </a:solidFill>
                <a:latin typeface="Segoe UI"/>
              </a:rPr>
              <a:t>THREE THINGS THAT MATTERED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1737360"/>
            <a:ext cx="4160520" cy="1298448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1856231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4"/>
                </a:solidFill>
                <a:latin typeface="Segoe UI"/>
              </a:rPr>
              <a:t>Score against each video's own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121408"/>
            <a:ext cx="3794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90" b="0">
                <a:solidFill>
                  <a:srgbClr val="8B93A7"/>
                </a:solidFill>
                <a:latin typeface="Segoe UI"/>
              </a:rPr>
              <a:t>The head, trained on short clips where the event fills the frame, reports a high flat pedestal on long footage — baselines ranged 0.55 to 0.88, so no absolute threshold transfers. Thresholding on the rise above each video's own median found the events.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779776"/>
            <a:ext cx="3794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DE80"/>
                </a:solidFill>
                <a:latin typeface="Segoe UI"/>
              </a:rPr>
              <a:t>L2 +0.12  ·  L3 +0.10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3145536"/>
            <a:ext cx="4160520" cy="1298448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3264408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4"/>
                </a:solidFill>
                <a:latin typeface="Segoe UI"/>
              </a:rPr>
              <a:t>Use each head for its own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529584"/>
            <a:ext cx="3794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90" b="0">
                <a:solidFill>
                  <a:srgbClr val="8B93A7"/>
                </a:solidFill>
                <a:latin typeface="Segoe UI"/>
              </a:rPr>
              <a:t>The window head answers where; the clip head answers what. Letting the clip head classify each detected span, instead of pooling window votes, fixed whole videos at once.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187952"/>
            <a:ext cx="3794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DE80"/>
                </a:solidFill>
                <a:latin typeface="Segoe UI"/>
              </a:rPr>
              <a:t>L3 0.296 → 0.414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4553712"/>
            <a:ext cx="4160520" cy="1298448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4672584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4"/>
                </a:solidFill>
                <a:latin typeface="Segoe UI"/>
              </a:rPr>
              <a:t>Annotation granularity beat every tuned threshold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4937760"/>
            <a:ext cx="3794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90" b="0">
                <a:solidFill>
                  <a:srgbClr val="8B93A7"/>
                </a:solidFill>
                <a:latin typeface="Segoe UI"/>
              </a:rPr>
              <a:t>Overlap is scored against the WHOLE ground-truth span, so our short windows each fell under the 0.5 gate and scored nothing. One span per video lifted D3 from 8.0 to 22.8 marks - after ~15,000 tuned configs had barely moved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5596128"/>
            <a:ext cx="3794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DE80"/>
                </a:solidFill>
                <a:latin typeface="Segoe UI"/>
              </a:rPr>
              <a:t>D3 20% -&gt; 57%; total 39.9 -&gt; 54.8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5961888"/>
            <a:ext cx="4160520" cy="749808"/>
          </a:xfrm>
          <a:prstGeom prst="roundRect">
            <a:avLst>
              <a:gd name="adj" fmla="val 12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6062472"/>
            <a:ext cx="3794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87171"/>
                </a:solidFill>
                <a:latin typeface="Segoe UI"/>
              </a:rPr>
              <a:t>WHAT WE TRIED AND DROPPED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6281928"/>
            <a:ext cx="38221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>
                <a:solidFill>
                  <a:srgbClr val="8B93A7"/>
                </a:solidFill>
                <a:latin typeface="Segoe UI"/>
              </a:rPr>
              <a:t>Contrast-to-baseline features: +0.8% held-out, but test AUC collapsed 0.86→0.53 · logit adjustment for rare classes: zero lift · TTA: zero lift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